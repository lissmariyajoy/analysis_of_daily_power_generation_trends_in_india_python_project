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65" r:id="rId3"/>
    <p:sldId id="259" r:id="rId4"/>
    <p:sldId id="268" r:id="rId5"/>
    <p:sldId id="270" r:id="rId6"/>
    <p:sldId id="266" r:id="rId7"/>
    <p:sldId id="263" r:id="rId8"/>
    <p:sldId id="271" r:id="rId9"/>
    <p:sldId id="257" r:id="rId10"/>
    <p:sldId id="272" r:id="rId11"/>
    <p:sldId id="273" r:id="rId12"/>
    <p:sldId id="274" r:id="rId13"/>
    <p:sldId id="258" r:id="rId14"/>
    <p:sldId id="275" r:id="rId15"/>
    <p:sldId id="277" r:id="rId16"/>
    <p:sldId id="276" r:id="rId1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BD32"/>
    <a:srgbClr val="223D6E"/>
    <a:srgbClr val="FF9900"/>
    <a:srgbClr val="EAB05C"/>
    <a:srgbClr val="CB8E3D"/>
    <a:srgbClr val="01386A"/>
    <a:srgbClr val="405DD0"/>
    <a:srgbClr val="403CD0"/>
    <a:srgbClr val="FF6DEA"/>
    <a:srgbClr val="DD87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7" d="100"/>
          <a:sy n="77" d="100"/>
        </p:scale>
        <p:origin x="908" y="36"/>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t>6/25/2026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533E96-F078-4B3D-A8F4-F1AF21EBC357}" type="slidenum">
              <a:rPr lang="en-US" smtClean="0"/>
              <a:t>9</a:t>
            </a:fld>
            <a:endParaRPr lang="en-US"/>
          </a:p>
        </p:txBody>
      </p:sp>
    </p:spTree>
    <p:extLst>
      <p:ext uri="{BB962C8B-B14F-4D97-AF65-F5344CB8AC3E}">
        <p14:creationId xmlns:p14="http://schemas.microsoft.com/office/powerpoint/2010/main" val="3615757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533E96-F078-4B3D-A8F4-F1AF21EBC357}" type="slidenum">
              <a:rPr lang="en-US" smtClean="0"/>
              <a:t>16</a:t>
            </a:fld>
            <a:endParaRPr lang="en-US"/>
          </a:p>
        </p:txBody>
      </p:sp>
    </p:spTree>
    <p:extLst>
      <p:ext uri="{BB962C8B-B14F-4D97-AF65-F5344CB8AC3E}">
        <p14:creationId xmlns:p14="http://schemas.microsoft.com/office/powerpoint/2010/main" val="20463590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17900" y="2266340"/>
            <a:ext cx="7024430" cy="1679755"/>
          </a:xfrm>
          <a:noFill/>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1517899" y="3946095"/>
            <a:ext cx="7024429" cy="610820"/>
          </a:xfrm>
        </p:spPr>
        <p:txBody>
          <a:bodyPr>
            <a:normAutofit/>
          </a:bodyPr>
          <a:lstStyle>
            <a:lvl1pPr marL="0" indent="0" algn="l">
              <a:buNone/>
              <a:defRPr sz="2800" b="0" i="0">
                <a:solidFill>
                  <a:srgbClr val="FFC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6/25/2026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02393"/>
            <a:ext cx="8286617" cy="916230"/>
          </a:xfrm>
        </p:spPr>
        <p:txBody>
          <a:bodyPr>
            <a:normAutofit/>
          </a:bodyPr>
          <a:lstStyle>
            <a:lvl1pPr algn="l">
              <a:defRPr sz="3600" baseline="0">
                <a:solidFill>
                  <a:schemeClr val="bg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57200" y="1197405"/>
            <a:ext cx="8286617" cy="3527996"/>
          </a:xfrm>
        </p:spPr>
        <p:txBody>
          <a:bodyPr/>
          <a:lstStyle>
            <a:lvl1pPr algn="l">
              <a:defRPr sz="2800">
                <a:solidFill>
                  <a:schemeClr val="tx1"/>
                </a:solidFill>
              </a:defRPr>
            </a:lvl1pPr>
            <a:lvl2pPr algn="l">
              <a:defRPr>
                <a:solidFill>
                  <a:schemeClr val="tx1"/>
                </a:solidFill>
              </a:defRPr>
            </a:lvl2pPr>
            <a:lvl3pPr algn="l">
              <a:defRPr>
                <a:solidFill>
                  <a:schemeClr val="tx1"/>
                </a:solidFill>
              </a:defRPr>
            </a:lvl3pPr>
            <a:lvl4pPr algn="l">
              <a:defRPr>
                <a:solidFill>
                  <a:schemeClr val="tx1"/>
                </a:solidFill>
              </a:defRPr>
            </a:lvl4pPr>
            <a:lvl5pPr algn="l">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1670" y="281175"/>
            <a:ext cx="6425940" cy="1012017"/>
          </a:xfrm>
        </p:spPr>
        <p:txBody>
          <a:bodyPr>
            <a:normAutofit/>
          </a:bodyPr>
          <a:lstStyle>
            <a:lvl1pPr algn="l">
              <a:defRPr sz="3600">
                <a:solidFill>
                  <a:srgbClr val="FFC0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601670" y="1293192"/>
            <a:ext cx="6425940" cy="3410190"/>
          </a:xfrm>
        </p:spPr>
        <p:txBody>
          <a:bodyPr/>
          <a:lstStyle>
            <a:lvl1pPr algn="l">
              <a:defRPr sz="2800">
                <a:solidFill>
                  <a:schemeClr val="bg1"/>
                </a:solidFill>
              </a:defRPr>
            </a:lvl1pPr>
            <a:lvl2pPr algn="l">
              <a:defRPr>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6/25/2026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6880" y="119218"/>
            <a:ext cx="8075311" cy="871876"/>
          </a:xfrm>
        </p:spPr>
        <p:txBody>
          <a:bodyPr>
            <a:normAutofit/>
          </a:bodyPr>
          <a:lstStyle>
            <a:lvl1pPr algn="l">
              <a:defRPr sz="3600" u="none" baseline="0">
                <a:solidFill>
                  <a:schemeClr val="bg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1809" y="1502816"/>
            <a:ext cx="4040188" cy="568644"/>
          </a:xfrm>
        </p:spPr>
        <p:txBody>
          <a:bodyPr anchor="b"/>
          <a:lstStyle>
            <a:lvl1pPr marL="0" indent="0" algn="ctr">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80" y="2071459"/>
            <a:ext cx="4035120" cy="2427818"/>
          </a:xfrm>
        </p:spPr>
        <p:txBody>
          <a:bodyPr/>
          <a:lstStyle>
            <a:lvl1pPr algn="ctr">
              <a:defRPr sz="2400">
                <a:solidFill>
                  <a:schemeClr val="tx1"/>
                </a:solidFill>
              </a:defRPr>
            </a:lvl1pPr>
            <a:lvl2pPr algn="ctr">
              <a:defRPr sz="2000">
                <a:solidFill>
                  <a:schemeClr val="tx1"/>
                </a:solidFill>
              </a:defRPr>
            </a:lvl2pPr>
            <a:lvl3pPr algn="ctr">
              <a:defRPr sz="1800">
                <a:solidFill>
                  <a:schemeClr val="tx1"/>
                </a:solidFill>
              </a:defRPr>
            </a:lvl3pPr>
            <a:lvl4pPr algn="ctr">
              <a:defRPr sz="1600">
                <a:solidFill>
                  <a:schemeClr val="tx1"/>
                </a:solidFill>
              </a:defRPr>
            </a:lvl4pPr>
            <a:lvl5pPr algn="ct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0" y="1502815"/>
            <a:ext cx="4041775" cy="568643"/>
          </a:xfrm>
        </p:spPr>
        <p:txBody>
          <a:bodyPr anchor="b"/>
          <a:lstStyle>
            <a:lvl1pPr marL="0" indent="0" algn="ctr">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1" y="2071458"/>
            <a:ext cx="4041775" cy="2427819"/>
          </a:xfrm>
        </p:spPr>
        <p:txBody>
          <a:bodyPr/>
          <a:lstStyle>
            <a:lvl1pPr algn="ctr">
              <a:defRPr sz="2400">
                <a:solidFill>
                  <a:schemeClr val="tx1"/>
                </a:solidFill>
              </a:defRPr>
            </a:lvl1pPr>
            <a:lvl2pPr algn="ctr">
              <a:defRPr sz="2000">
                <a:solidFill>
                  <a:schemeClr val="tx1"/>
                </a:solidFill>
              </a:defRPr>
            </a:lvl2pPr>
            <a:lvl3pPr algn="ctr">
              <a:defRPr sz="1800">
                <a:solidFill>
                  <a:schemeClr val="tx1"/>
                </a:solidFill>
              </a:defRPr>
            </a:lvl3pPr>
            <a:lvl4pPr algn="ctr">
              <a:defRPr sz="1600">
                <a:solidFill>
                  <a:schemeClr val="tx1"/>
                </a:solidFill>
              </a:defRPr>
            </a:lvl4pPr>
            <a:lvl5pPr algn="ct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6/25/2026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6/25/2026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08B89D22-1D6E-450B-881F-4D2A4C527F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6/25/2026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0000"/>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6244" y="1197405"/>
            <a:ext cx="7931511" cy="2137870"/>
          </a:xfrm>
        </p:spPr>
        <p:txBody>
          <a:bodyPr>
            <a:normAutofit/>
          </a:bodyPr>
          <a:lstStyle/>
          <a:p>
            <a:pPr algn="ctr"/>
            <a:r>
              <a:rPr lang="en-US" sz="5400" dirty="0">
                <a:solidFill>
                  <a:srgbClr val="FFC000"/>
                </a:solidFill>
                <a:latin typeface="Bernard MT Condensed" panose="02050806060905020404" pitchFamily="18" charset="0"/>
              </a:rPr>
              <a:t>Analysis of Daily Power Generation Trends in India</a:t>
            </a:r>
          </a:p>
        </p:txBody>
      </p:sp>
      <p:sp>
        <p:nvSpPr>
          <p:cNvPr id="3" name="Subtitle 2"/>
          <p:cNvSpPr>
            <a:spLocks noGrp="1"/>
          </p:cNvSpPr>
          <p:nvPr>
            <p:ph type="subTitle" idx="1"/>
          </p:nvPr>
        </p:nvSpPr>
        <p:spPr>
          <a:xfrm>
            <a:off x="3512215" y="3946095"/>
            <a:ext cx="4275740" cy="610820"/>
          </a:xfrm>
        </p:spPr>
        <p:txBody>
          <a:bodyPr/>
          <a:lstStyle/>
          <a:p>
            <a:pPr algn="ctr"/>
            <a:r>
              <a:rPr lang="en-US" sz="2000" dirty="0">
                <a:solidFill>
                  <a:srgbClr val="EAB05C"/>
                </a:solidFill>
                <a:latin typeface="Algerian" panose="04020705040A02060702" pitchFamily="82" charset="0"/>
              </a:rPr>
              <a:t>Lissmariya Joy</a:t>
            </a:r>
          </a:p>
          <a:p>
            <a:pPr algn="r"/>
            <a:endParaRPr lang="en-US" dirty="0"/>
          </a:p>
        </p:txBody>
      </p:sp>
    </p:spTree>
    <p:extLst>
      <p:ext uri="{BB962C8B-B14F-4D97-AF65-F5344CB8AC3E}">
        <p14:creationId xmlns:p14="http://schemas.microsoft.com/office/powerpoint/2010/main" val="36392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5000"/>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BCDAEB-A37C-5780-7525-F6F101DA90FE}"/>
              </a:ext>
            </a:extLst>
          </p:cNvPr>
          <p:cNvSpPr>
            <a:spLocks noGrp="1"/>
          </p:cNvSpPr>
          <p:nvPr>
            <p:ph idx="1"/>
          </p:nvPr>
        </p:nvSpPr>
        <p:spPr>
          <a:xfrm>
            <a:off x="448965" y="1007204"/>
            <a:ext cx="8246070" cy="4123035"/>
          </a:xfrm>
        </p:spPr>
        <p:txBody>
          <a:bodyPr>
            <a:normAutofit/>
          </a:bodyPr>
          <a:lstStyle/>
          <a:p>
            <a:pPr marL="0" indent="0" algn="just">
              <a:lnSpc>
                <a:spcPct val="130000"/>
              </a:lnSpc>
              <a:spcBef>
                <a:spcPts val="600"/>
              </a:spcBef>
              <a:buNone/>
            </a:pPr>
            <a:r>
              <a:rPr lang="en-US" sz="1800" dirty="0"/>
              <a:t>This project analyzes daily electricity generation data across India from 2017 to 2020 using a large dataset obtained from official Government of India sources. The dataset contains information on regions, states, power sectors, power stations, monitored capacity, planned generation, and actual generation. The objective of the project is to perform data cleaning, handle missing values, detect outliers, and conduct Exploratory Data Analysis (EDA) to identify trends and patterns in power generation. Using Python libraries such as Pandas, NumPy, Matplotlib, and Seaborn, the project visualizes and analyzes electricity generation performance across different regions, states, and sectors, providing insights into generation efficiency, capacity utilization, and overall power generation trends in India.</a:t>
            </a:r>
          </a:p>
        </p:txBody>
      </p:sp>
      <p:sp>
        <p:nvSpPr>
          <p:cNvPr id="2" name="TextBox 1">
            <a:extLst>
              <a:ext uri="{FF2B5EF4-FFF2-40B4-BE49-F238E27FC236}">
                <a16:creationId xmlns:a16="http://schemas.microsoft.com/office/drawing/2014/main" id="{D21AA282-D19D-CE75-B899-5C4953B58C6A}"/>
              </a:ext>
            </a:extLst>
          </p:cNvPr>
          <p:cNvSpPr txBox="1"/>
          <p:nvPr/>
        </p:nvSpPr>
        <p:spPr>
          <a:xfrm>
            <a:off x="448965" y="433880"/>
            <a:ext cx="3512215" cy="523220"/>
          </a:xfrm>
          <a:prstGeom prst="rect">
            <a:avLst/>
          </a:prstGeom>
          <a:noFill/>
        </p:spPr>
        <p:txBody>
          <a:bodyPr wrap="square" rtlCol="0">
            <a:spAutoFit/>
          </a:bodyPr>
          <a:lstStyle/>
          <a:p>
            <a:r>
              <a:rPr lang="en-US" sz="2800" b="1" dirty="0">
                <a:solidFill>
                  <a:schemeClr val="bg1"/>
                </a:solidFill>
              </a:rPr>
              <a:t>Introduction:</a:t>
            </a:r>
          </a:p>
        </p:txBody>
      </p:sp>
    </p:spTree>
    <p:extLst>
      <p:ext uri="{BB962C8B-B14F-4D97-AF65-F5344CB8AC3E}">
        <p14:creationId xmlns:p14="http://schemas.microsoft.com/office/powerpoint/2010/main" val="517757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5000"/>
            <a:lum/>
          </a:blip>
          <a:srcRect/>
          <a:stretch>
            <a:fillRect/>
          </a:stretch>
        </a:blip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378C6A2-9204-7CFE-4E18-6E06E05E4824}"/>
              </a:ext>
            </a:extLst>
          </p:cNvPr>
          <p:cNvSpPr>
            <a:spLocks noGrp="1"/>
          </p:cNvSpPr>
          <p:nvPr>
            <p:ph idx="1"/>
          </p:nvPr>
        </p:nvSpPr>
        <p:spPr>
          <a:xfrm>
            <a:off x="296260" y="2087942"/>
            <a:ext cx="8398775" cy="3054100"/>
          </a:xfrm>
        </p:spPr>
        <p:txBody>
          <a:bodyPr>
            <a:noAutofit/>
          </a:bodyPr>
          <a:lstStyle/>
          <a:p>
            <a:pPr marL="0" indent="0">
              <a:buNone/>
            </a:pPr>
            <a:r>
              <a:rPr lang="en-US" b="1" dirty="0">
                <a:latin typeface="+mj-lt"/>
              </a:rPr>
              <a:t>Dataset Description:</a:t>
            </a:r>
          </a:p>
          <a:p>
            <a:pPr marL="0" indent="0" algn="just">
              <a:lnSpc>
                <a:spcPct val="130000"/>
              </a:lnSpc>
              <a:spcBef>
                <a:spcPts val="600"/>
              </a:spcBef>
              <a:buNone/>
              <a:defRPr sz="1800">
                <a:solidFill>
                  <a:srgbClr val="F5F5F5"/>
                </a:solidFill>
              </a:defRPr>
            </a:pPr>
            <a:r>
              <a:rPr lang="en-US" sz="1800" b="1" u="sng" dirty="0"/>
              <a:t>Source:</a:t>
            </a:r>
            <a:r>
              <a:rPr lang="en-US" sz="1800" b="1" dirty="0"/>
              <a:t> </a:t>
            </a:r>
            <a:r>
              <a:rPr lang="en-US" sz="1800" dirty="0"/>
              <a:t>India Government Data Portal (https://indiadataportal.com/p/power/r/mop-power_generation-pl-dl-abc)</a:t>
            </a:r>
            <a:endParaRPr lang="en-US" sz="1800" b="1" u="sng" dirty="0"/>
          </a:p>
          <a:p>
            <a:pPr marL="0" indent="0" algn="just">
              <a:lnSpc>
                <a:spcPct val="130000"/>
              </a:lnSpc>
              <a:spcBef>
                <a:spcPts val="600"/>
              </a:spcBef>
              <a:buNone/>
              <a:defRPr sz="1800">
                <a:solidFill>
                  <a:srgbClr val="F5F5F5"/>
                </a:solidFill>
              </a:defRPr>
            </a:pPr>
            <a:r>
              <a:rPr lang="en-US" sz="1800" b="1" u="sng" dirty="0"/>
              <a:t>Original Dataset:</a:t>
            </a:r>
            <a:r>
              <a:rPr lang="en-US" sz="1800" b="1" dirty="0"/>
              <a:t> </a:t>
            </a:r>
            <a:r>
              <a:rPr lang="en-US" sz="1800" dirty="0"/>
              <a:t>1,048,575 rows and 12 columns</a:t>
            </a:r>
          </a:p>
          <a:p>
            <a:pPr marL="0" indent="0" algn="just">
              <a:lnSpc>
                <a:spcPct val="130000"/>
              </a:lnSpc>
              <a:spcBef>
                <a:spcPts val="600"/>
              </a:spcBef>
              <a:buNone/>
              <a:defRPr sz="1800">
                <a:solidFill>
                  <a:srgbClr val="F5F5F5"/>
                </a:solidFill>
              </a:defRPr>
            </a:pPr>
            <a:r>
              <a:rPr lang="en-US" sz="1800" b="1" u="sng" dirty="0"/>
              <a:t>Study Period:</a:t>
            </a:r>
            <a:r>
              <a:rPr lang="en-US" sz="1800" b="1" dirty="0"/>
              <a:t> </a:t>
            </a:r>
            <a:r>
              <a:rPr lang="en-US" sz="1800" dirty="0"/>
              <a:t>1 September 2017 to 25 October 2020</a:t>
            </a:r>
          </a:p>
          <a:p>
            <a:pPr marL="0" indent="0" algn="just">
              <a:lnSpc>
                <a:spcPct val="130000"/>
              </a:lnSpc>
              <a:spcBef>
                <a:spcPts val="600"/>
              </a:spcBef>
              <a:buNone/>
              <a:defRPr sz="1800">
                <a:solidFill>
                  <a:srgbClr val="F5F5F5"/>
                </a:solidFill>
              </a:defRPr>
            </a:pPr>
            <a:r>
              <a:rPr lang="en-US" sz="1800" b="1" u="sng" dirty="0"/>
              <a:t>Final Dataset:</a:t>
            </a:r>
            <a:r>
              <a:rPr lang="en-US" sz="1800" b="1" dirty="0"/>
              <a:t> </a:t>
            </a:r>
            <a:r>
              <a:rPr lang="en-US" sz="1800" dirty="0"/>
              <a:t>992,442 records after cleaning and filtering with 16 column</a:t>
            </a:r>
          </a:p>
          <a:p>
            <a:pPr marL="0" indent="0">
              <a:buNone/>
            </a:pPr>
            <a:endParaRPr lang="en-US" sz="1800" b="1" dirty="0">
              <a:latin typeface="+mj-lt"/>
            </a:endParaRPr>
          </a:p>
          <a:p>
            <a:pPr marL="0" indent="0">
              <a:buNone/>
            </a:pPr>
            <a:endParaRPr lang="en-US" sz="1800" dirty="0"/>
          </a:p>
        </p:txBody>
      </p:sp>
      <p:sp>
        <p:nvSpPr>
          <p:cNvPr id="3" name="Content Placeholder 2">
            <a:extLst>
              <a:ext uri="{FF2B5EF4-FFF2-40B4-BE49-F238E27FC236}">
                <a16:creationId xmlns:a16="http://schemas.microsoft.com/office/drawing/2014/main" id="{8DDBB4F6-82E9-57C5-6FD9-39BEA2E8F0FA}"/>
              </a:ext>
            </a:extLst>
          </p:cNvPr>
          <p:cNvSpPr txBox="1">
            <a:spLocks/>
          </p:cNvSpPr>
          <p:nvPr/>
        </p:nvSpPr>
        <p:spPr>
          <a:xfrm>
            <a:off x="296260" y="281175"/>
            <a:ext cx="8398775" cy="1679755"/>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3000" b="1" dirty="0">
                <a:solidFill>
                  <a:srgbClr val="F5F5F5"/>
                </a:solidFill>
                <a:latin typeface="+mj-lt"/>
              </a:rPr>
              <a:t>Problem Statement:</a:t>
            </a:r>
          </a:p>
          <a:p>
            <a:pPr marL="0" indent="0" algn="just">
              <a:lnSpc>
                <a:spcPct val="140000"/>
              </a:lnSpc>
              <a:spcBef>
                <a:spcPts val="600"/>
              </a:spcBef>
              <a:buNone/>
            </a:pPr>
            <a:r>
              <a:rPr lang="en-US" sz="1900" dirty="0">
                <a:solidFill>
                  <a:srgbClr val="F5F5F5"/>
                </a:solidFill>
              </a:rPr>
              <a:t>India's electricity generation varies across regions and power stations. Understanding generation patterns is essential for energy planning and decision-making. The project identifies trends, relationships, and performance variations in power generation.</a:t>
            </a:r>
          </a:p>
          <a:p>
            <a:pPr marL="0" indent="0">
              <a:buFont typeface="Arial" pitchFamily="34" charset="0"/>
              <a:buNone/>
            </a:pPr>
            <a:endParaRPr lang="en-US" sz="1800" dirty="0"/>
          </a:p>
        </p:txBody>
      </p:sp>
    </p:spTree>
    <p:extLst>
      <p:ext uri="{BB962C8B-B14F-4D97-AF65-F5344CB8AC3E}">
        <p14:creationId xmlns:p14="http://schemas.microsoft.com/office/powerpoint/2010/main" val="1101633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extLst>
              <a:ext uri="{BEBA8EAE-BF5A-486C-A8C5-ECC9F3942E4B}">
                <a14:imgProps xmlns:a14="http://schemas.microsoft.com/office/drawing/2010/main">
                  <a14:imgLayer r:embed="rId3">
                    <a14:imgEffect>
                      <a14:artisticCutout/>
                    </a14:imgEffect>
                  </a14:imgLayer>
                </a14:imgProps>
              </a:ext>
            </a:extLst>
          </a:blip>
          <a:srcRect/>
          <a:stretch>
            <a:fillRect l="75000"/>
          </a:stretch>
        </a:blipFill>
        <a:effectLst/>
      </p:bgPr>
    </p:bg>
    <p:spTree>
      <p:nvGrpSpPr>
        <p:cNvPr id="1" name="">
          <a:extLst>
            <a:ext uri="{FF2B5EF4-FFF2-40B4-BE49-F238E27FC236}">
              <a16:creationId xmlns:a16="http://schemas.microsoft.com/office/drawing/2014/main" id="{C5F8C21A-D118-45D0-9873-29AC2E6D6FA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6F6C4C8-1BA5-F6A0-25D9-209CE178D8B9}"/>
              </a:ext>
            </a:extLst>
          </p:cNvPr>
          <p:cNvSpPr txBox="1">
            <a:spLocks/>
          </p:cNvSpPr>
          <p:nvPr/>
        </p:nvSpPr>
        <p:spPr>
          <a:xfrm>
            <a:off x="457200" y="205979"/>
            <a:ext cx="8229600" cy="533311"/>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t>Dataset Attributes:</a:t>
            </a:r>
          </a:p>
        </p:txBody>
      </p:sp>
      <p:sp>
        <p:nvSpPr>
          <p:cNvPr id="7" name="Content Placeholder 6">
            <a:extLst>
              <a:ext uri="{FF2B5EF4-FFF2-40B4-BE49-F238E27FC236}">
                <a16:creationId xmlns:a16="http://schemas.microsoft.com/office/drawing/2014/main" id="{712CB63A-ADCE-AC9F-1055-2233CA2FBFDD}"/>
              </a:ext>
            </a:extLst>
          </p:cNvPr>
          <p:cNvSpPr txBox="1">
            <a:spLocks/>
          </p:cNvSpPr>
          <p:nvPr/>
        </p:nvSpPr>
        <p:spPr>
          <a:xfrm>
            <a:off x="4648200" y="1200151"/>
            <a:ext cx="3283310" cy="3394472"/>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2C3A9B01-25F5-6F4E-F788-5A423BE9C351}"/>
              </a:ext>
            </a:extLst>
          </p:cNvPr>
          <p:cNvSpPr>
            <a:spLocks noGrp="1"/>
          </p:cNvSpPr>
          <p:nvPr>
            <p:ph sz="half" idx="1"/>
          </p:nvPr>
        </p:nvSpPr>
        <p:spPr>
          <a:xfrm>
            <a:off x="457200" y="1044700"/>
            <a:ext cx="2893160" cy="3892821"/>
          </a:xfrm>
        </p:spPr>
        <p:txBody>
          <a:bodyPr>
            <a:normAutofit/>
          </a:bodyPr>
          <a:lstStyle/>
          <a:p>
            <a:pPr>
              <a:lnSpc>
                <a:spcPct val="130000"/>
              </a:lnSpc>
            </a:pPr>
            <a:r>
              <a:rPr lang="en-US" sz="1800" dirty="0"/>
              <a:t>Id</a:t>
            </a:r>
          </a:p>
          <a:p>
            <a:pPr>
              <a:lnSpc>
                <a:spcPct val="130000"/>
              </a:lnSpc>
            </a:pPr>
            <a:r>
              <a:rPr lang="en-US" sz="1800" dirty="0"/>
              <a:t>Date</a:t>
            </a:r>
          </a:p>
          <a:p>
            <a:pPr>
              <a:lnSpc>
                <a:spcPct val="130000"/>
              </a:lnSpc>
            </a:pPr>
            <a:r>
              <a:rPr lang="en-US" sz="1800" dirty="0"/>
              <a:t>Region</a:t>
            </a:r>
          </a:p>
          <a:p>
            <a:pPr>
              <a:lnSpc>
                <a:spcPct val="130000"/>
              </a:lnSpc>
            </a:pPr>
            <a:r>
              <a:rPr lang="en-US" sz="1800" dirty="0"/>
              <a:t>State Name</a:t>
            </a:r>
          </a:p>
          <a:p>
            <a:pPr>
              <a:lnSpc>
                <a:spcPct val="130000"/>
              </a:lnSpc>
            </a:pPr>
            <a:r>
              <a:rPr lang="en-US" sz="1800" dirty="0"/>
              <a:t>State Code</a:t>
            </a:r>
          </a:p>
          <a:p>
            <a:pPr>
              <a:lnSpc>
                <a:spcPct val="130000"/>
              </a:lnSpc>
            </a:pPr>
            <a:r>
              <a:rPr lang="en-US" sz="1800" dirty="0"/>
              <a:t>Sector</a:t>
            </a:r>
          </a:p>
          <a:p>
            <a:pPr>
              <a:lnSpc>
                <a:spcPct val="130000"/>
              </a:lnSpc>
            </a:pPr>
            <a:r>
              <a:rPr lang="en-US" sz="1800" dirty="0"/>
              <a:t>Station Type</a:t>
            </a:r>
          </a:p>
          <a:p>
            <a:pPr>
              <a:lnSpc>
                <a:spcPct val="130000"/>
              </a:lnSpc>
            </a:pPr>
            <a:r>
              <a:rPr lang="en-US" sz="1800" dirty="0"/>
              <a:t>Power Station</a:t>
            </a:r>
          </a:p>
          <a:p>
            <a:pPr>
              <a:lnSpc>
                <a:spcPct val="130000"/>
              </a:lnSpc>
            </a:pPr>
            <a:r>
              <a:rPr lang="en-US" sz="1800" dirty="0"/>
              <a:t>Power Station Unit</a:t>
            </a:r>
          </a:p>
          <a:p>
            <a:endParaRPr lang="en-US" dirty="0"/>
          </a:p>
        </p:txBody>
      </p:sp>
      <p:sp>
        <p:nvSpPr>
          <p:cNvPr id="8" name="Content Placeholder 7">
            <a:extLst>
              <a:ext uri="{FF2B5EF4-FFF2-40B4-BE49-F238E27FC236}">
                <a16:creationId xmlns:a16="http://schemas.microsoft.com/office/drawing/2014/main" id="{06FC41CA-7470-6E82-0BC2-CA56D9D710FE}"/>
              </a:ext>
            </a:extLst>
          </p:cNvPr>
          <p:cNvSpPr>
            <a:spLocks noGrp="1"/>
          </p:cNvSpPr>
          <p:nvPr>
            <p:ph sz="half" idx="2"/>
          </p:nvPr>
        </p:nvSpPr>
        <p:spPr>
          <a:xfrm>
            <a:off x="3808475" y="1044699"/>
            <a:ext cx="3512215" cy="3817625"/>
          </a:xfrm>
        </p:spPr>
        <p:txBody>
          <a:bodyPr>
            <a:normAutofit/>
          </a:bodyPr>
          <a:lstStyle/>
          <a:p>
            <a:pPr>
              <a:lnSpc>
                <a:spcPct val="130000"/>
              </a:lnSpc>
            </a:pPr>
            <a:r>
              <a:rPr lang="en-US" sz="1800" dirty="0"/>
              <a:t>Monitored Capacity</a:t>
            </a:r>
          </a:p>
          <a:p>
            <a:pPr>
              <a:lnSpc>
                <a:spcPct val="130000"/>
              </a:lnSpc>
            </a:pPr>
            <a:r>
              <a:rPr lang="en-US" sz="1800" dirty="0"/>
              <a:t>Today's Generation Planned</a:t>
            </a:r>
          </a:p>
          <a:p>
            <a:pPr>
              <a:lnSpc>
                <a:spcPct val="130000"/>
              </a:lnSpc>
            </a:pPr>
            <a:r>
              <a:rPr lang="en-US" sz="1800" dirty="0"/>
              <a:t>Today's Generation Actual</a:t>
            </a:r>
          </a:p>
          <a:p>
            <a:pPr>
              <a:lnSpc>
                <a:spcPct val="130000"/>
              </a:lnSpc>
            </a:pPr>
            <a:r>
              <a:rPr lang="en-US" sz="1800" dirty="0"/>
              <a:t>Derived Columns: </a:t>
            </a:r>
          </a:p>
          <a:p>
            <a:pPr lvl="1">
              <a:lnSpc>
                <a:spcPct val="130000"/>
              </a:lnSpc>
            </a:pPr>
            <a:r>
              <a:rPr lang="en-US" sz="1800" dirty="0"/>
              <a:t>Country</a:t>
            </a:r>
          </a:p>
          <a:p>
            <a:pPr lvl="1">
              <a:lnSpc>
                <a:spcPct val="130000"/>
              </a:lnSpc>
            </a:pPr>
            <a:r>
              <a:rPr lang="en-US" sz="1800" dirty="0"/>
              <a:t>Power Source</a:t>
            </a:r>
          </a:p>
          <a:p>
            <a:pPr lvl="1">
              <a:lnSpc>
                <a:spcPct val="130000"/>
              </a:lnSpc>
            </a:pPr>
            <a:r>
              <a:rPr lang="en-US" sz="1800" dirty="0"/>
              <a:t>Generation Status</a:t>
            </a:r>
          </a:p>
          <a:p>
            <a:pPr lvl="1">
              <a:lnSpc>
                <a:spcPct val="130000"/>
              </a:lnSpc>
            </a:pPr>
            <a:r>
              <a:rPr lang="en-US" sz="1800" dirty="0"/>
              <a:t>Year</a:t>
            </a:r>
          </a:p>
        </p:txBody>
      </p:sp>
    </p:spTree>
    <p:extLst>
      <p:ext uri="{BB962C8B-B14F-4D97-AF65-F5344CB8AC3E}">
        <p14:creationId xmlns:p14="http://schemas.microsoft.com/office/powerpoint/2010/main" val="775324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B2D93D-5994-3E7E-0C27-848299507AAE}"/>
              </a:ext>
            </a:extLst>
          </p:cNvPr>
          <p:cNvSpPr>
            <a:spLocks noGrp="1"/>
          </p:cNvSpPr>
          <p:nvPr>
            <p:ph idx="1"/>
          </p:nvPr>
        </p:nvSpPr>
        <p:spPr>
          <a:xfrm>
            <a:off x="296260" y="128470"/>
            <a:ext cx="8093365" cy="4886560"/>
          </a:xfrm>
        </p:spPr>
        <p:txBody>
          <a:bodyPr>
            <a:normAutofit lnSpcReduction="10000"/>
          </a:bodyPr>
          <a:lstStyle/>
          <a:p>
            <a:pPr marL="0" indent="0">
              <a:lnSpc>
                <a:spcPct val="130000"/>
              </a:lnSpc>
              <a:spcBef>
                <a:spcPts val="600"/>
              </a:spcBef>
              <a:buNone/>
            </a:pPr>
            <a:r>
              <a:rPr lang="en-US" b="1" dirty="0"/>
              <a:t>Technologies Used:</a:t>
            </a:r>
          </a:p>
          <a:p>
            <a:pPr lvl="1">
              <a:lnSpc>
                <a:spcPct val="130000"/>
              </a:lnSpc>
              <a:spcBef>
                <a:spcPts val="600"/>
              </a:spcBef>
            </a:pPr>
            <a:r>
              <a:rPr lang="en-US" sz="1800" b="1" dirty="0"/>
              <a:t>Programming Language:</a:t>
            </a:r>
          </a:p>
          <a:p>
            <a:pPr lvl="2">
              <a:lnSpc>
                <a:spcPct val="130000"/>
              </a:lnSpc>
              <a:spcBef>
                <a:spcPts val="600"/>
              </a:spcBef>
            </a:pPr>
            <a:r>
              <a:rPr lang="en-US" sz="1800" dirty="0"/>
              <a:t>Python</a:t>
            </a:r>
          </a:p>
          <a:p>
            <a:pPr lvl="1">
              <a:lnSpc>
                <a:spcPct val="130000"/>
              </a:lnSpc>
              <a:spcBef>
                <a:spcPts val="600"/>
              </a:spcBef>
            </a:pPr>
            <a:r>
              <a:rPr lang="en-US" sz="1800" b="1" dirty="0"/>
              <a:t>Libraries:</a:t>
            </a:r>
          </a:p>
          <a:p>
            <a:pPr lvl="2">
              <a:lnSpc>
                <a:spcPct val="130000"/>
              </a:lnSpc>
              <a:spcBef>
                <a:spcPts val="600"/>
              </a:spcBef>
            </a:pPr>
            <a:r>
              <a:rPr lang="en-US" sz="1800" dirty="0"/>
              <a:t>Pandas</a:t>
            </a:r>
          </a:p>
          <a:p>
            <a:pPr lvl="2">
              <a:lnSpc>
                <a:spcPct val="130000"/>
              </a:lnSpc>
              <a:spcBef>
                <a:spcPts val="600"/>
              </a:spcBef>
            </a:pPr>
            <a:r>
              <a:rPr lang="en-US" sz="1800" dirty="0"/>
              <a:t>NumPy</a:t>
            </a:r>
          </a:p>
          <a:p>
            <a:pPr lvl="2">
              <a:lnSpc>
                <a:spcPct val="130000"/>
              </a:lnSpc>
              <a:spcBef>
                <a:spcPts val="600"/>
              </a:spcBef>
            </a:pPr>
            <a:r>
              <a:rPr lang="en-US" sz="1800" dirty="0"/>
              <a:t>Matplotlib</a:t>
            </a:r>
          </a:p>
          <a:p>
            <a:pPr lvl="2">
              <a:lnSpc>
                <a:spcPct val="130000"/>
              </a:lnSpc>
              <a:spcBef>
                <a:spcPts val="600"/>
              </a:spcBef>
            </a:pPr>
            <a:r>
              <a:rPr lang="en-US" sz="1800" dirty="0"/>
              <a:t>Seaborn</a:t>
            </a:r>
          </a:p>
          <a:p>
            <a:pPr lvl="2">
              <a:lnSpc>
                <a:spcPct val="130000"/>
              </a:lnSpc>
              <a:spcBef>
                <a:spcPts val="600"/>
              </a:spcBef>
            </a:pPr>
            <a:r>
              <a:rPr lang="en-US" sz="1800" dirty="0"/>
              <a:t>Plotly</a:t>
            </a:r>
          </a:p>
          <a:p>
            <a:pPr marL="0" indent="0">
              <a:buNone/>
            </a:pPr>
            <a:r>
              <a:rPr lang="en-US" b="1" dirty="0"/>
              <a:t>Development Environment:</a:t>
            </a:r>
          </a:p>
          <a:p>
            <a:pPr lvl="1"/>
            <a:r>
              <a:rPr lang="en-US" sz="1800" dirty="0"/>
              <a:t>Visual Studio Code (VS Code)</a:t>
            </a:r>
          </a:p>
          <a:p>
            <a:pPr marL="914400" lvl="2" indent="0">
              <a:lnSpc>
                <a:spcPct val="130000"/>
              </a:lnSpc>
              <a:spcBef>
                <a:spcPts val="600"/>
              </a:spcBef>
              <a:buNone/>
            </a:pPr>
            <a:endParaRPr lang="en-US" sz="1800" dirty="0"/>
          </a:p>
          <a:p>
            <a:pPr marL="0" indent="0">
              <a:buNone/>
            </a:pPr>
            <a:endParaRPr lang="en-US" sz="1800" b="1" dirty="0"/>
          </a:p>
          <a:p>
            <a:pPr marL="0" indent="0">
              <a:buNone/>
            </a:pPr>
            <a:endParaRPr lang="en-US" dirty="0"/>
          </a:p>
        </p:txBody>
      </p:sp>
    </p:spTree>
    <p:extLst>
      <p:ext uri="{BB962C8B-B14F-4D97-AF65-F5344CB8AC3E}">
        <p14:creationId xmlns:p14="http://schemas.microsoft.com/office/powerpoint/2010/main" val="2290026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5000"/>
            <a:lum/>
          </a:blip>
          <a:srcRect/>
          <a:stretch>
            <a:fillRect/>
          </a:stretch>
        </a:blipFill>
        <a:effectLst/>
      </p:bgPr>
    </p:bg>
    <p:spTree>
      <p:nvGrpSpPr>
        <p:cNvPr id="1" name="">
          <a:extLst>
            <a:ext uri="{FF2B5EF4-FFF2-40B4-BE49-F238E27FC236}">
              <a16:creationId xmlns:a16="http://schemas.microsoft.com/office/drawing/2014/main" id="{846CB49A-D9CA-6DD7-2F35-52BFDACF88EC}"/>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55DA9D4C-BAA9-E044-9ACA-B741F0D2BEBD}"/>
              </a:ext>
            </a:extLst>
          </p:cNvPr>
          <p:cNvSpPr txBox="1">
            <a:spLocks/>
          </p:cNvSpPr>
          <p:nvPr/>
        </p:nvSpPr>
        <p:spPr>
          <a:xfrm>
            <a:off x="296260" y="-24235"/>
            <a:ext cx="8286617" cy="5015030"/>
          </a:xfrm>
          <a:prstGeom prst="rect">
            <a:avLst/>
          </a:prstGeom>
        </p:spPr>
        <p:txBody>
          <a:bodyPr>
            <a:normAutofit fontScale="6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30000"/>
              </a:lnSpc>
              <a:spcBef>
                <a:spcPts val="600"/>
              </a:spcBef>
              <a:buFont typeface="Arial" pitchFamily="34" charset="0"/>
              <a:buNone/>
            </a:pPr>
            <a:r>
              <a:rPr lang="en-US" sz="4500" b="1" dirty="0">
                <a:solidFill>
                  <a:schemeClr val="bg1"/>
                </a:solidFill>
                <a:latin typeface="+mj-lt"/>
              </a:rPr>
              <a:t>Data Cleaning and Preparation Steps:</a:t>
            </a:r>
            <a:endParaRPr lang="en-US" sz="3600" b="1" dirty="0">
              <a:solidFill>
                <a:schemeClr val="bg1"/>
              </a:solidFill>
              <a:latin typeface="+mj-lt"/>
            </a:endParaRPr>
          </a:p>
          <a:p>
            <a:pPr>
              <a:lnSpc>
                <a:spcPct val="130000"/>
              </a:lnSpc>
              <a:spcBef>
                <a:spcPts val="600"/>
              </a:spcBef>
            </a:pPr>
            <a:r>
              <a:rPr lang="en-US" sz="2900" dirty="0">
                <a:solidFill>
                  <a:schemeClr val="bg1"/>
                </a:solidFill>
              </a:rPr>
              <a:t>Handled missing values and duplicate records.</a:t>
            </a:r>
          </a:p>
          <a:p>
            <a:pPr>
              <a:lnSpc>
                <a:spcPct val="130000"/>
              </a:lnSpc>
              <a:spcBef>
                <a:spcPts val="600"/>
              </a:spcBef>
            </a:pPr>
            <a:r>
              <a:rPr lang="en-US" sz="2900" dirty="0">
                <a:solidFill>
                  <a:schemeClr val="bg1"/>
                </a:solidFill>
              </a:rPr>
              <a:t>Converted the Date column to datetime format.</a:t>
            </a:r>
          </a:p>
          <a:p>
            <a:pPr>
              <a:lnSpc>
                <a:spcPct val="130000"/>
              </a:lnSpc>
              <a:spcBef>
                <a:spcPts val="600"/>
              </a:spcBef>
            </a:pPr>
            <a:r>
              <a:rPr lang="en-US" sz="2900" dirty="0">
                <a:solidFill>
                  <a:schemeClr val="bg1"/>
                </a:solidFill>
              </a:rPr>
              <a:t>Converted State Code to integer format.</a:t>
            </a:r>
          </a:p>
          <a:p>
            <a:pPr>
              <a:lnSpc>
                <a:spcPct val="130000"/>
              </a:lnSpc>
              <a:spcBef>
                <a:spcPts val="600"/>
              </a:spcBef>
            </a:pPr>
            <a:r>
              <a:rPr lang="en-US" sz="2900" dirty="0">
                <a:solidFill>
                  <a:schemeClr val="bg1"/>
                </a:solidFill>
              </a:rPr>
              <a:t>Standardized categorical values in the Station Type column.</a:t>
            </a:r>
          </a:p>
          <a:p>
            <a:pPr>
              <a:lnSpc>
                <a:spcPct val="130000"/>
              </a:lnSpc>
              <a:spcBef>
                <a:spcPts val="600"/>
              </a:spcBef>
            </a:pPr>
            <a:r>
              <a:rPr lang="en-US" sz="2900" dirty="0">
                <a:solidFill>
                  <a:schemeClr val="bg1"/>
                </a:solidFill>
              </a:rPr>
              <a:t>Created new derived columns:</a:t>
            </a:r>
          </a:p>
          <a:p>
            <a:pPr lvl="1">
              <a:lnSpc>
                <a:spcPct val="130000"/>
              </a:lnSpc>
              <a:spcBef>
                <a:spcPts val="600"/>
              </a:spcBef>
            </a:pPr>
            <a:r>
              <a:rPr lang="en-US" sz="2900" dirty="0">
                <a:solidFill>
                  <a:schemeClr val="bg1"/>
                </a:solidFill>
              </a:rPr>
              <a:t>Country</a:t>
            </a:r>
          </a:p>
          <a:p>
            <a:pPr lvl="1">
              <a:lnSpc>
                <a:spcPct val="130000"/>
              </a:lnSpc>
              <a:spcBef>
                <a:spcPts val="600"/>
              </a:spcBef>
            </a:pPr>
            <a:r>
              <a:rPr lang="en-US" sz="2900" dirty="0">
                <a:solidFill>
                  <a:schemeClr val="bg1"/>
                </a:solidFill>
              </a:rPr>
              <a:t>Power Source</a:t>
            </a:r>
          </a:p>
          <a:p>
            <a:pPr lvl="1">
              <a:lnSpc>
                <a:spcPct val="130000"/>
              </a:lnSpc>
              <a:spcBef>
                <a:spcPts val="600"/>
              </a:spcBef>
            </a:pPr>
            <a:r>
              <a:rPr lang="en-US" sz="2900" dirty="0">
                <a:solidFill>
                  <a:schemeClr val="bg1"/>
                </a:solidFill>
              </a:rPr>
              <a:t>Generation Status</a:t>
            </a:r>
          </a:p>
          <a:p>
            <a:pPr lvl="1">
              <a:lnSpc>
                <a:spcPct val="130000"/>
              </a:lnSpc>
              <a:spcBef>
                <a:spcPts val="600"/>
              </a:spcBef>
            </a:pPr>
            <a:r>
              <a:rPr lang="en-US" sz="2900" dirty="0">
                <a:solidFill>
                  <a:schemeClr val="bg1"/>
                </a:solidFill>
              </a:rPr>
              <a:t>Year</a:t>
            </a:r>
          </a:p>
          <a:p>
            <a:pPr>
              <a:lnSpc>
                <a:spcPct val="130000"/>
              </a:lnSpc>
              <a:spcBef>
                <a:spcPts val="600"/>
              </a:spcBef>
            </a:pPr>
            <a:r>
              <a:rPr lang="en-US" sz="2900" dirty="0">
                <a:solidFill>
                  <a:schemeClr val="bg1"/>
                </a:solidFill>
              </a:rPr>
              <a:t>Retained Bhutan records and classified them as Imported Power.</a:t>
            </a:r>
          </a:p>
          <a:p>
            <a:pPr>
              <a:lnSpc>
                <a:spcPct val="130000"/>
              </a:lnSpc>
              <a:spcBef>
                <a:spcPts val="600"/>
              </a:spcBef>
            </a:pPr>
            <a:r>
              <a:rPr lang="en-US" sz="2900" dirty="0">
                <a:solidFill>
                  <a:schemeClr val="bg1"/>
                </a:solidFill>
              </a:rPr>
              <a:t>Filtered records with zero monitored capacity, planned generation, and actual generation values where appropriate.</a:t>
            </a:r>
            <a:endParaRPr lang="en-US" dirty="0">
              <a:solidFill>
                <a:schemeClr val="bg1"/>
              </a:solidFill>
            </a:endParaRPr>
          </a:p>
        </p:txBody>
      </p:sp>
    </p:spTree>
    <p:extLst>
      <p:ext uri="{BB962C8B-B14F-4D97-AF65-F5344CB8AC3E}">
        <p14:creationId xmlns:p14="http://schemas.microsoft.com/office/powerpoint/2010/main" val="1380165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extLst>
              <a:ext uri="{BEBA8EAE-BF5A-486C-A8C5-ECC9F3942E4B}">
                <a14:imgProps xmlns:a14="http://schemas.microsoft.com/office/drawing/2010/main">
                  <a14:imgLayer r:embed="rId3">
                    <a14:imgEffect>
                      <a14:artisticCutout/>
                    </a14:imgEffect>
                  </a14:imgLayer>
                </a14:imgProps>
              </a:ext>
            </a:extLst>
          </a:blip>
          <a:srcRect/>
          <a:stretch>
            <a:fillRect l="75000"/>
          </a:stretch>
        </a:blipFill>
        <a:effectLst/>
      </p:bgPr>
    </p:bg>
    <p:spTree>
      <p:nvGrpSpPr>
        <p:cNvPr id="1" name="">
          <a:extLst>
            <a:ext uri="{FF2B5EF4-FFF2-40B4-BE49-F238E27FC236}">
              <a16:creationId xmlns:a16="http://schemas.microsoft.com/office/drawing/2014/main" id="{28F0CFC1-1306-FB80-3F9C-79046E8A372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B19CD38-84D9-DEDA-BF79-2CFD301B0A3A}"/>
              </a:ext>
            </a:extLst>
          </p:cNvPr>
          <p:cNvSpPr>
            <a:spLocks noGrp="1"/>
          </p:cNvSpPr>
          <p:nvPr>
            <p:ph type="title"/>
          </p:nvPr>
        </p:nvSpPr>
        <p:spPr/>
        <p:txBody>
          <a:bodyPr>
            <a:normAutofit/>
          </a:bodyPr>
          <a:lstStyle/>
          <a:p>
            <a:r>
              <a:rPr lang="en-US" sz="2800" b="1" dirty="0">
                <a:solidFill>
                  <a:schemeClr val="tx1"/>
                </a:solidFill>
                <a:effectLst/>
              </a:rPr>
              <a:t>Exploratory Data Analysis (EDA):</a:t>
            </a:r>
          </a:p>
        </p:txBody>
      </p:sp>
      <p:sp>
        <p:nvSpPr>
          <p:cNvPr id="4" name="Content Placeholder 3">
            <a:extLst>
              <a:ext uri="{FF2B5EF4-FFF2-40B4-BE49-F238E27FC236}">
                <a16:creationId xmlns:a16="http://schemas.microsoft.com/office/drawing/2014/main" id="{B3D5D0EF-12A7-7E3D-7A2E-CE041A88C077}"/>
              </a:ext>
            </a:extLst>
          </p:cNvPr>
          <p:cNvSpPr>
            <a:spLocks noGrp="1"/>
          </p:cNvSpPr>
          <p:nvPr>
            <p:ph idx="1"/>
          </p:nvPr>
        </p:nvSpPr>
        <p:spPr/>
        <p:txBody>
          <a:bodyPr>
            <a:normAutofit/>
          </a:bodyPr>
          <a:lstStyle/>
          <a:p>
            <a:pPr marL="0" indent="0">
              <a:lnSpc>
                <a:spcPct val="130000"/>
              </a:lnSpc>
              <a:spcBef>
                <a:spcPts val="600"/>
              </a:spcBef>
              <a:buNone/>
            </a:pPr>
            <a:r>
              <a:rPr lang="en-US" sz="1900" b="1" dirty="0"/>
              <a:t>Univariate Analysis:</a:t>
            </a:r>
          </a:p>
          <a:p>
            <a:pPr>
              <a:lnSpc>
                <a:spcPct val="130000"/>
              </a:lnSpc>
              <a:spcBef>
                <a:spcPts val="600"/>
              </a:spcBef>
            </a:pPr>
            <a:r>
              <a:rPr lang="en-US" sz="1900" dirty="0"/>
              <a:t>Analyzed the distribution of numerical variables.</a:t>
            </a:r>
          </a:p>
          <a:p>
            <a:pPr>
              <a:lnSpc>
                <a:spcPct val="130000"/>
              </a:lnSpc>
              <a:spcBef>
                <a:spcPts val="600"/>
              </a:spcBef>
            </a:pPr>
            <a:r>
              <a:rPr lang="en-US" sz="1900" dirty="0"/>
              <a:t>Examined yearly total power generation trends.</a:t>
            </a:r>
          </a:p>
          <a:p>
            <a:pPr>
              <a:lnSpc>
                <a:spcPct val="130000"/>
              </a:lnSpc>
              <a:spcBef>
                <a:spcPts val="600"/>
              </a:spcBef>
            </a:pPr>
            <a:r>
              <a:rPr lang="en-US" sz="1900" dirty="0"/>
              <a:t>Studied region-wise and state-wise power generation.</a:t>
            </a:r>
          </a:p>
          <a:p>
            <a:pPr>
              <a:lnSpc>
                <a:spcPct val="130000"/>
              </a:lnSpc>
              <a:spcBef>
                <a:spcPts val="600"/>
              </a:spcBef>
            </a:pPr>
            <a:r>
              <a:rPr lang="en-US" sz="1900" dirty="0"/>
              <a:t>Evaluated sector-wise and station type contributions.</a:t>
            </a:r>
          </a:p>
          <a:p>
            <a:pPr>
              <a:lnSpc>
                <a:spcPct val="130000"/>
              </a:lnSpc>
              <a:spcBef>
                <a:spcPts val="600"/>
              </a:spcBef>
            </a:pPr>
            <a:r>
              <a:rPr lang="en-US" sz="1900" dirty="0"/>
              <a:t>Analyzed the distribution of actual generation.</a:t>
            </a:r>
          </a:p>
          <a:p>
            <a:pPr marL="0" indent="0">
              <a:buNone/>
            </a:pPr>
            <a:endParaRPr lang="en-US" dirty="0"/>
          </a:p>
        </p:txBody>
      </p:sp>
    </p:spTree>
    <p:extLst>
      <p:ext uri="{BB962C8B-B14F-4D97-AF65-F5344CB8AC3E}">
        <p14:creationId xmlns:p14="http://schemas.microsoft.com/office/powerpoint/2010/main" val="3276935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extLst>
              <a:ext uri="{BEBA8EAE-BF5A-486C-A8C5-ECC9F3942E4B}">
                <a14:imgProps xmlns:a14="http://schemas.microsoft.com/office/drawing/2010/main">
                  <a14:imgLayer r:embed="rId3">
                    <a14:imgEffect>
                      <a14:artisticCutout/>
                    </a14:imgEffect>
                  </a14:imgLayer>
                </a14:imgProps>
              </a:ext>
            </a:extLst>
          </a:blip>
          <a:srcRect/>
          <a:stretch>
            <a:fillRect l="75000"/>
          </a:stretch>
        </a:blipFill>
        <a:effectLst/>
      </p:bgPr>
    </p:bg>
    <p:spTree>
      <p:nvGrpSpPr>
        <p:cNvPr id="1" name="">
          <a:extLst>
            <a:ext uri="{FF2B5EF4-FFF2-40B4-BE49-F238E27FC236}">
              <a16:creationId xmlns:a16="http://schemas.microsoft.com/office/drawing/2014/main" id="{900714AC-6BEA-AC7D-4256-7B581EA81CB0}"/>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DF4077D-5670-979E-BC77-256296D55AEA}"/>
              </a:ext>
            </a:extLst>
          </p:cNvPr>
          <p:cNvSpPr>
            <a:spLocks noGrp="1"/>
          </p:cNvSpPr>
          <p:nvPr>
            <p:ph idx="1"/>
          </p:nvPr>
        </p:nvSpPr>
        <p:spPr>
          <a:xfrm>
            <a:off x="428691" y="281175"/>
            <a:ext cx="8286617" cy="4733854"/>
          </a:xfrm>
        </p:spPr>
        <p:txBody>
          <a:bodyPr>
            <a:noAutofit/>
          </a:bodyPr>
          <a:lstStyle/>
          <a:p>
            <a:pPr marL="0" indent="0">
              <a:buNone/>
            </a:pPr>
            <a:r>
              <a:rPr lang="en-US" sz="1800" b="1" dirty="0"/>
              <a:t>Bivariate Analysis:</a:t>
            </a:r>
          </a:p>
          <a:p>
            <a:r>
              <a:rPr lang="en-US" sz="1800" dirty="0"/>
              <a:t>Compared planned and actual power generation.</a:t>
            </a:r>
          </a:p>
          <a:p>
            <a:r>
              <a:rPr lang="en-US" sz="1800" dirty="0"/>
              <a:t>Analyzed region-wise and sector-wise power generation.</a:t>
            </a:r>
          </a:p>
          <a:p>
            <a:r>
              <a:rPr lang="en-US" sz="1800" dirty="0"/>
              <a:t>Studied the relationship between monitored capacity and actual generation.</a:t>
            </a:r>
          </a:p>
          <a:p>
            <a:r>
              <a:rPr lang="en-US" sz="1800" dirty="0"/>
              <a:t>Calculated the number of power stations across states.</a:t>
            </a:r>
          </a:p>
          <a:p>
            <a:r>
              <a:rPr lang="en-US" sz="1800" dirty="0"/>
              <a:t>Examined the correlation between planned and actual generation.</a:t>
            </a:r>
          </a:p>
          <a:p>
            <a:pPr marL="0" indent="0">
              <a:buNone/>
            </a:pPr>
            <a:endParaRPr lang="en-US" sz="1800" b="1" dirty="0"/>
          </a:p>
          <a:p>
            <a:pPr marL="0" indent="0">
              <a:buNone/>
            </a:pPr>
            <a:r>
              <a:rPr lang="en-US" sz="1800" b="1" dirty="0"/>
              <a:t>Multivariate Analysis:</a:t>
            </a:r>
          </a:p>
          <a:p>
            <a:r>
              <a:rPr lang="en-US" sz="1800" dirty="0"/>
              <a:t>Performed year-wise station type analysis.</a:t>
            </a:r>
          </a:p>
          <a:p>
            <a:r>
              <a:rPr lang="en-US" sz="1800" dirty="0"/>
              <a:t>Conducted year-wise region-wise power generation analysis.</a:t>
            </a:r>
          </a:p>
          <a:p>
            <a:r>
              <a:rPr lang="en-US" sz="1800" dirty="0"/>
              <a:t>Identified top and bottom performing states and power stations.</a:t>
            </a:r>
          </a:p>
          <a:p>
            <a:r>
              <a:rPr lang="en-US" sz="1800" dirty="0"/>
              <a:t>Analyzed quarterly generation trends.</a:t>
            </a:r>
          </a:p>
          <a:p>
            <a:r>
              <a:rPr lang="en-US" sz="1800" dirty="0"/>
              <a:t>Performed correlation analysis between monitored capacity, planned generation, and actual generation.</a:t>
            </a:r>
          </a:p>
          <a:p>
            <a:pPr marL="0" indent="0">
              <a:lnSpc>
                <a:spcPct val="130000"/>
              </a:lnSpc>
              <a:spcBef>
                <a:spcPts val="600"/>
              </a:spcBef>
              <a:buNone/>
            </a:pPr>
            <a:endParaRPr lang="en-US" sz="1800" dirty="0"/>
          </a:p>
          <a:p>
            <a:pPr marL="0" indent="0">
              <a:buNone/>
            </a:pPr>
            <a:endParaRPr lang="en-US" sz="1800" dirty="0"/>
          </a:p>
        </p:txBody>
      </p:sp>
    </p:spTree>
    <p:extLst>
      <p:ext uri="{BB962C8B-B14F-4D97-AF65-F5344CB8AC3E}">
        <p14:creationId xmlns:p14="http://schemas.microsoft.com/office/powerpoint/2010/main" val="4022611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effectLst/>
              </a:rPr>
              <a:t>Data Visualization:</a:t>
            </a:r>
            <a:endParaRPr lang="en-US" sz="2800" dirty="0"/>
          </a:p>
        </p:txBody>
      </p:sp>
      <p:sp>
        <p:nvSpPr>
          <p:cNvPr id="3" name="Content Placeholder 2"/>
          <p:cNvSpPr>
            <a:spLocks noGrp="1"/>
          </p:cNvSpPr>
          <p:nvPr>
            <p:ph idx="1"/>
          </p:nvPr>
        </p:nvSpPr>
        <p:spPr>
          <a:xfrm>
            <a:off x="172063" y="1044699"/>
            <a:ext cx="8856890" cy="3996407"/>
          </a:xfrm>
        </p:spPr>
        <p:txBody>
          <a:bodyPr>
            <a:noAutofit/>
          </a:bodyPr>
          <a:lstStyle/>
          <a:p>
            <a:pPr>
              <a:lnSpc>
                <a:spcPct val="130000"/>
              </a:lnSpc>
              <a:spcBef>
                <a:spcPts val="600"/>
              </a:spcBef>
              <a:buFont typeface="+mj-lt"/>
              <a:buAutoNum type="arabicPeriod"/>
            </a:pPr>
            <a:r>
              <a:rPr lang="en-US" sz="1800" b="1" dirty="0"/>
              <a:t>Month-wise Total Power Generation (Line Chart)</a:t>
            </a:r>
          </a:p>
          <a:p>
            <a:pPr>
              <a:lnSpc>
                <a:spcPct val="130000"/>
              </a:lnSpc>
              <a:spcBef>
                <a:spcPts val="600"/>
              </a:spcBef>
              <a:buFont typeface="+mj-lt"/>
              <a:buAutoNum type="arabicPeriod"/>
            </a:pPr>
            <a:r>
              <a:rPr lang="en-US" sz="1800" b="1" dirty="0"/>
              <a:t>Year-wise Total Power Generation (Line Chart)</a:t>
            </a:r>
          </a:p>
          <a:p>
            <a:pPr>
              <a:lnSpc>
                <a:spcPct val="130000"/>
              </a:lnSpc>
              <a:spcBef>
                <a:spcPts val="600"/>
              </a:spcBef>
              <a:buFont typeface="+mj-lt"/>
              <a:buAutoNum type="arabicPeriod"/>
            </a:pPr>
            <a:r>
              <a:rPr lang="en-US" sz="1800" b="1" dirty="0"/>
              <a:t>Year-wise Planned vs Actual Generation (Line Plot)</a:t>
            </a:r>
          </a:p>
          <a:p>
            <a:pPr>
              <a:lnSpc>
                <a:spcPct val="130000"/>
              </a:lnSpc>
              <a:spcBef>
                <a:spcPts val="600"/>
              </a:spcBef>
              <a:buFont typeface="+mj-lt"/>
              <a:buAutoNum type="arabicPeriod"/>
            </a:pPr>
            <a:r>
              <a:rPr lang="en-US" sz="1800" b="1" dirty="0"/>
              <a:t>Region-wise Total Generation (Bar Chart)</a:t>
            </a:r>
          </a:p>
          <a:p>
            <a:pPr>
              <a:lnSpc>
                <a:spcPct val="130000"/>
              </a:lnSpc>
              <a:spcBef>
                <a:spcPts val="600"/>
              </a:spcBef>
              <a:buFont typeface="+mj-lt"/>
              <a:buAutoNum type="arabicPeriod"/>
            </a:pPr>
            <a:r>
              <a:rPr lang="en-US" sz="1800" b="1" dirty="0"/>
              <a:t>Top 10 Power Generating States (Bar Chart)</a:t>
            </a:r>
          </a:p>
          <a:p>
            <a:pPr>
              <a:lnSpc>
                <a:spcPct val="130000"/>
              </a:lnSpc>
              <a:spcBef>
                <a:spcPts val="600"/>
              </a:spcBef>
              <a:buFont typeface="+mj-lt"/>
              <a:buAutoNum type="arabicPeriod"/>
            </a:pPr>
            <a:r>
              <a:rPr lang="en-US" sz="1800" b="1" dirty="0"/>
              <a:t>Station Type Contribution (Pie Chart)</a:t>
            </a:r>
          </a:p>
          <a:p>
            <a:pPr>
              <a:lnSpc>
                <a:spcPct val="130000"/>
              </a:lnSpc>
              <a:spcBef>
                <a:spcPts val="600"/>
              </a:spcBef>
              <a:buFont typeface="+mj-lt"/>
              <a:buAutoNum type="arabicPeriod"/>
            </a:pPr>
            <a:r>
              <a:rPr lang="en-US" sz="1800" b="1" dirty="0"/>
              <a:t>Sector-wise Planned vs Actual Generation (Grouped Bar Chart)</a:t>
            </a:r>
          </a:p>
          <a:p>
            <a:pPr>
              <a:lnSpc>
                <a:spcPct val="130000"/>
              </a:lnSpc>
              <a:spcBef>
                <a:spcPts val="600"/>
              </a:spcBef>
              <a:buFont typeface="+mj-lt"/>
              <a:buAutoNum type="arabicPeriod"/>
            </a:pPr>
            <a:r>
              <a:rPr lang="en-US" sz="1800" b="1" dirty="0"/>
              <a:t>Power Source Contribution (Pie Chart)</a:t>
            </a:r>
          </a:p>
          <a:p>
            <a:pPr>
              <a:lnSpc>
                <a:spcPct val="130000"/>
              </a:lnSpc>
              <a:spcBef>
                <a:spcPts val="600"/>
              </a:spcBef>
              <a:buFont typeface="+mj-lt"/>
              <a:buAutoNum type="arabicPeriod"/>
            </a:pPr>
            <a:r>
              <a:rPr lang="en-US" sz="1800" b="1" dirty="0"/>
              <a:t>Correlation Heatmap</a:t>
            </a:r>
          </a:p>
          <a:p>
            <a:pPr marL="0" indent="0">
              <a:lnSpc>
                <a:spcPct val="130000"/>
              </a:lnSpc>
              <a:spcBef>
                <a:spcPts val="600"/>
              </a:spcBef>
              <a:buNone/>
            </a:pPr>
            <a:br>
              <a:rPr lang="en-US" sz="1800" dirty="0"/>
            </a:br>
            <a:endParaRPr lang="en-US" sz="1800" dirty="0"/>
          </a:p>
          <a:p>
            <a:endParaRPr lang="en-US" sz="1800" dirty="0"/>
          </a:p>
        </p:txBody>
      </p:sp>
    </p:spTree>
    <p:extLst>
      <p:ext uri="{BB962C8B-B14F-4D97-AF65-F5344CB8AC3E}">
        <p14:creationId xmlns:p14="http://schemas.microsoft.com/office/powerpoint/2010/main" val="4103309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extLst>
              <a:ext uri="{BEBA8EAE-BF5A-486C-A8C5-ECC9F3942E4B}">
                <a14:imgProps xmlns:a14="http://schemas.microsoft.com/office/drawing/2010/main">
                  <a14:imgLayer r:embed="rId3">
                    <a14:imgEffect>
                      <a14:artisticCutout/>
                    </a14:imgEffect>
                  </a14:imgLayer>
                </a14:imgProps>
              </a:ext>
            </a:extLst>
          </a:blip>
          <a:srcRect/>
          <a:stretch>
            <a:fillRect l="75000"/>
          </a:stretch>
        </a:blipFill>
        <a:effectLst/>
      </p:bgPr>
    </p:bg>
    <p:spTree>
      <p:nvGrpSpPr>
        <p:cNvPr id="1" name="">
          <a:extLst>
            <a:ext uri="{FF2B5EF4-FFF2-40B4-BE49-F238E27FC236}">
              <a16:creationId xmlns:a16="http://schemas.microsoft.com/office/drawing/2014/main" id="{7FA1FA5A-BD63-67BB-37DC-B423BAA95410}"/>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E442993-D4BA-62C6-436D-357AD98C7843}"/>
              </a:ext>
            </a:extLst>
          </p:cNvPr>
          <p:cNvSpPr>
            <a:spLocks noGrp="1"/>
          </p:cNvSpPr>
          <p:nvPr>
            <p:ph idx="1"/>
          </p:nvPr>
        </p:nvSpPr>
        <p:spPr>
          <a:xfrm>
            <a:off x="428691" y="281175"/>
            <a:ext cx="8286617" cy="4581150"/>
          </a:xfrm>
        </p:spPr>
        <p:txBody>
          <a:bodyPr>
            <a:normAutofit/>
          </a:bodyPr>
          <a:lstStyle/>
          <a:p>
            <a:pPr marL="0" indent="0">
              <a:lnSpc>
                <a:spcPct val="130000"/>
              </a:lnSpc>
              <a:spcBef>
                <a:spcPts val="600"/>
              </a:spcBef>
              <a:buNone/>
            </a:pPr>
            <a:r>
              <a:rPr lang="en-US" b="1" dirty="0">
                <a:latin typeface="+mj-lt"/>
              </a:rPr>
              <a:t>Data Visualization (continue):</a:t>
            </a:r>
            <a:endParaRPr lang="en-US" sz="1800" b="1" dirty="0">
              <a:latin typeface="+mj-lt"/>
            </a:endParaRPr>
          </a:p>
          <a:p>
            <a:pPr>
              <a:lnSpc>
                <a:spcPct val="130000"/>
              </a:lnSpc>
              <a:spcBef>
                <a:spcPts val="600"/>
              </a:spcBef>
              <a:buFont typeface="+mj-lt"/>
              <a:buAutoNum type="arabicPeriod" startAt="10"/>
            </a:pPr>
            <a:r>
              <a:rPr lang="en-US" sz="1800" b="1" dirty="0"/>
              <a:t>Distribution of Actual Generation (Histogram)</a:t>
            </a:r>
          </a:p>
          <a:p>
            <a:pPr>
              <a:lnSpc>
                <a:spcPct val="130000"/>
              </a:lnSpc>
              <a:spcBef>
                <a:spcPts val="600"/>
              </a:spcBef>
              <a:buFont typeface="+mj-lt"/>
              <a:buAutoNum type="arabicPeriod" startAt="10"/>
            </a:pPr>
            <a:r>
              <a:rPr lang="en-US" sz="1800" b="1" dirty="0"/>
              <a:t>Box Plot (Outlier Detection)</a:t>
            </a:r>
          </a:p>
          <a:p>
            <a:pPr>
              <a:lnSpc>
                <a:spcPct val="130000"/>
              </a:lnSpc>
              <a:spcBef>
                <a:spcPts val="600"/>
              </a:spcBef>
              <a:buFont typeface="+mj-lt"/>
              <a:buAutoNum type="arabicPeriod" startAt="10"/>
            </a:pPr>
            <a:r>
              <a:rPr lang="en-US" sz="1800" b="1" dirty="0"/>
              <a:t>State-wise Capacity vs Generation (Scatter Plot)</a:t>
            </a:r>
          </a:p>
          <a:p>
            <a:pPr>
              <a:lnSpc>
                <a:spcPct val="130000"/>
              </a:lnSpc>
              <a:spcBef>
                <a:spcPts val="600"/>
              </a:spcBef>
              <a:buFont typeface="+mj-lt"/>
              <a:buAutoNum type="arabicPeriod" startAt="10"/>
            </a:pPr>
            <a:r>
              <a:rPr lang="en-US" sz="1800" b="1" dirty="0"/>
              <a:t>Year-wise Station Type Trend (Stacked Bar Chart)</a:t>
            </a:r>
          </a:p>
          <a:p>
            <a:pPr>
              <a:lnSpc>
                <a:spcPct val="130000"/>
              </a:lnSpc>
              <a:spcBef>
                <a:spcPts val="600"/>
              </a:spcBef>
              <a:buFont typeface="+mj-lt"/>
              <a:buAutoNum type="arabicPeriod" startAt="10"/>
            </a:pPr>
            <a:r>
              <a:rPr lang="en-US" sz="1800" b="1" dirty="0"/>
              <a:t>Quarterly Trend (Line Chart)</a:t>
            </a:r>
          </a:p>
          <a:p>
            <a:pPr>
              <a:lnSpc>
                <a:spcPct val="130000"/>
              </a:lnSpc>
              <a:spcBef>
                <a:spcPts val="600"/>
              </a:spcBef>
              <a:buFont typeface="+mj-lt"/>
              <a:buAutoNum type="arabicPeriod" startAt="10"/>
            </a:pPr>
            <a:r>
              <a:rPr lang="en-US" sz="1800" b="1" dirty="0"/>
              <a:t>Top 10 Performing Power Stations (Bar Chart)</a:t>
            </a:r>
          </a:p>
          <a:p>
            <a:pPr>
              <a:lnSpc>
                <a:spcPct val="130000"/>
              </a:lnSpc>
              <a:spcBef>
                <a:spcPts val="600"/>
              </a:spcBef>
              <a:buFont typeface="+mj-lt"/>
              <a:buAutoNum type="arabicPeriod" startAt="10"/>
            </a:pPr>
            <a:r>
              <a:rPr lang="en-US" sz="1800" b="1" dirty="0"/>
              <a:t>Bottom 5 States with Lowest Power Generation (Bar Chart)</a:t>
            </a:r>
          </a:p>
          <a:p>
            <a:pPr marL="0" indent="0">
              <a:buNone/>
            </a:pPr>
            <a:endParaRPr lang="en-US" sz="1800" b="1" dirty="0"/>
          </a:p>
          <a:p>
            <a:pPr marL="0" indent="0">
              <a:buNone/>
            </a:pPr>
            <a:endParaRPr lang="en-US" sz="1800" dirty="0"/>
          </a:p>
        </p:txBody>
      </p:sp>
    </p:spTree>
    <p:extLst>
      <p:ext uri="{BB962C8B-B14F-4D97-AF65-F5344CB8AC3E}">
        <p14:creationId xmlns:p14="http://schemas.microsoft.com/office/powerpoint/2010/main" val="3928663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5000"/>
            <a:lum/>
          </a:blip>
          <a:srcRect/>
          <a:stretch>
            <a:fillRect/>
          </a:stretch>
        </a:blipFill>
        <a:effectLst/>
      </p:bgPr>
    </p:bg>
    <p:spTree>
      <p:nvGrpSpPr>
        <p:cNvPr id="1" name="">
          <a:extLst>
            <a:ext uri="{FF2B5EF4-FFF2-40B4-BE49-F238E27FC236}">
              <a16:creationId xmlns:a16="http://schemas.microsoft.com/office/drawing/2014/main" id="{E605FFB2-5E2B-210A-3CED-7498BE12D957}"/>
            </a:ext>
          </a:extLst>
        </p:cNvPr>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BBD6EC91-7C62-91BB-DFAB-5785706A934F}"/>
              </a:ext>
            </a:extLst>
          </p:cNvPr>
          <p:cNvSpPr txBox="1">
            <a:spLocks/>
          </p:cNvSpPr>
          <p:nvPr/>
        </p:nvSpPr>
        <p:spPr>
          <a:xfrm>
            <a:off x="448965" y="739289"/>
            <a:ext cx="8286617" cy="4275739"/>
          </a:xfrm>
          <a:prstGeom prst="rect">
            <a:avLst/>
          </a:prstGeom>
        </p:spPr>
        <p:txBody>
          <a:bodyPr>
            <a:normAutofit fontScale="5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spcBef>
                <a:spcPts val="600"/>
              </a:spcBef>
            </a:pPr>
            <a:r>
              <a:rPr lang="en-US" sz="3300" dirty="0">
                <a:solidFill>
                  <a:schemeClr val="bg1"/>
                </a:solidFill>
              </a:rPr>
              <a:t>Conventional Thermal power stations contributed nearly </a:t>
            </a:r>
            <a:r>
              <a:rPr lang="en-US" sz="3300" b="1" dirty="0">
                <a:solidFill>
                  <a:schemeClr val="bg1"/>
                </a:solidFill>
              </a:rPr>
              <a:t>80%</a:t>
            </a:r>
            <a:r>
              <a:rPr lang="en-US" sz="3300" dirty="0">
                <a:solidFill>
                  <a:schemeClr val="bg1"/>
                </a:solidFill>
              </a:rPr>
              <a:t> of India's total electricity generation.</a:t>
            </a:r>
          </a:p>
          <a:p>
            <a:pPr>
              <a:lnSpc>
                <a:spcPct val="150000"/>
              </a:lnSpc>
              <a:spcBef>
                <a:spcPts val="600"/>
              </a:spcBef>
            </a:pPr>
            <a:r>
              <a:rPr lang="en-US" sz="3300" dirty="0">
                <a:solidFill>
                  <a:schemeClr val="bg1"/>
                </a:solidFill>
              </a:rPr>
              <a:t>Domestic Power accounted for approximately </a:t>
            </a:r>
            <a:r>
              <a:rPr lang="en-US" sz="3300" b="1" dirty="0">
                <a:solidFill>
                  <a:schemeClr val="bg1"/>
                </a:solidFill>
              </a:rPr>
              <a:t>99%</a:t>
            </a:r>
            <a:r>
              <a:rPr lang="en-US" sz="3300" dirty="0">
                <a:solidFill>
                  <a:schemeClr val="bg1"/>
                </a:solidFill>
              </a:rPr>
              <a:t> of total generation.</a:t>
            </a:r>
          </a:p>
          <a:p>
            <a:pPr>
              <a:lnSpc>
                <a:spcPct val="150000"/>
              </a:lnSpc>
              <a:spcBef>
                <a:spcPts val="600"/>
              </a:spcBef>
            </a:pPr>
            <a:r>
              <a:rPr lang="en-US" sz="3300" dirty="0">
                <a:solidFill>
                  <a:schemeClr val="bg1"/>
                </a:solidFill>
              </a:rPr>
              <a:t>Maharashtra, Uttar Pradesh, Madhya Pradesh, Chhattisgarh, and Gujarat were the leading power-generating states.</a:t>
            </a:r>
          </a:p>
          <a:p>
            <a:pPr>
              <a:lnSpc>
                <a:spcPct val="150000"/>
              </a:lnSpc>
              <a:spcBef>
                <a:spcPts val="600"/>
              </a:spcBef>
            </a:pPr>
            <a:r>
              <a:rPr lang="en-US" sz="3300" dirty="0">
                <a:solidFill>
                  <a:schemeClr val="bg1"/>
                </a:solidFill>
              </a:rPr>
              <a:t>Western and Northern regions generated the highest electricity.</a:t>
            </a:r>
          </a:p>
          <a:p>
            <a:pPr>
              <a:lnSpc>
                <a:spcPct val="150000"/>
              </a:lnSpc>
              <a:spcBef>
                <a:spcPts val="600"/>
              </a:spcBef>
            </a:pPr>
            <a:r>
              <a:rPr lang="en-US" sz="3300" dirty="0">
                <a:solidFill>
                  <a:schemeClr val="bg1"/>
                </a:solidFill>
              </a:rPr>
              <a:t>All top-performing power stations were Conventional Thermal stations belonging to the Central and Private sectors.</a:t>
            </a:r>
          </a:p>
          <a:p>
            <a:pPr>
              <a:lnSpc>
                <a:spcPct val="150000"/>
              </a:lnSpc>
              <a:spcBef>
                <a:spcPts val="600"/>
              </a:spcBef>
            </a:pPr>
            <a:r>
              <a:rPr lang="en-US" sz="3300" dirty="0">
                <a:solidFill>
                  <a:schemeClr val="bg1"/>
                </a:solidFill>
              </a:rPr>
              <a:t>Actual generation closely followed planned generation with a correlation coefficient of </a:t>
            </a:r>
            <a:r>
              <a:rPr lang="en-US" sz="3300" b="1" dirty="0">
                <a:solidFill>
                  <a:schemeClr val="bg1"/>
                </a:solidFill>
              </a:rPr>
              <a:t>0.74</a:t>
            </a:r>
            <a:r>
              <a:rPr lang="en-US" sz="3300" dirty="0">
                <a:solidFill>
                  <a:schemeClr val="bg1"/>
                </a:solidFill>
              </a:rPr>
              <a:t>.</a:t>
            </a:r>
          </a:p>
          <a:p>
            <a:pPr marL="0" indent="0">
              <a:buFont typeface="Arial" pitchFamily="34" charset="0"/>
              <a:buNone/>
            </a:pPr>
            <a:endParaRPr lang="en-US" b="1" dirty="0">
              <a:solidFill>
                <a:schemeClr val="bg1"/>
              </a:solidFill>
            </a:endParaRPr>
          </a:p>
          <a:p>
            <a:pPr marL="0" indent="0">
              <a:buFont typeface="Arial" pitchFamily="34" charset="0"/>
              <a:buNone/>
            </a:pPr>
            <a:endParaRPr lang="en-US" dirty="0">
              <a:solidFill>
                <a:schemeClr val="bg1"/>
              </a:solidFill>
            </a:endParaRPr>
          </a:p>
        </p:txBody>
      </p:sp>
      <p:sp>
        <p:nvSpPr>
          <p:cNvPr id="2" name="Title 1">
            <a:extLst>
              <a:ext uri="{FF2B5EF4-FFF2-40B4-BE49-F238E27FC236}">
                <a16:creationId xmlns:a16="http://schemas.microsoft.com/office/drawing/2014/main" id="{D9DB1F31-D896-0240-BF50-7B6EA1FBF280}"/>
              </a:ext>
            </a:extLst>
          </p:cNvPr>
          <p:cNvSpPr>
            <a:spLocks noGrp="1"/>
          </p:cNvSpPr>
          <p:nvPr>
            <p:ph type="title"/>
          </p:nvPr>
        </p:nvSpPr>
        <p:spPr>
          <a:xfrm>
            <a:off x="405984" y="0"/>
            <a:ext cx="6425940" cy="586585"/>
          </a:xfrm>
        </p:spPr>
        <p:txBody>
          <a:bodyPr>
            <a:normAutofit/>
          </a:bodyPr>
          <a:lstStyle/>
          <a:p>
            <a:r>
              <a:rPr lang="en-US" sz="2800" b="1" dirty="0">
                <a:solidFill>
                  <a:schemeClr val="bg1"/>
                </a:solidFill>
              </a:rPr>
              <a:t>Key Insights:</a:t>
            </a:r>
            <a:endParaRPr lang="en-US" sz="2800" dirty="0"/>
          </a:p>
        </p:txBody>
      </p:sp>
    </p:spTree>
    <p:extLst>
      <p:ext uri="{BB962C8B-B14F-4D97-AF65-F5344CB8AC3E}">
        <p14:creationId xmlns:p14="http://schemas.microsoft.com/office/powerpoint/2010/main" val="1833057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5000"/>
            <a:lum/>
          </a:blip>
          <a:srcRect/>
          <a:stretch>
            <a:fillRect/>
          </a:stretch>
        </a:blipFill>
        <a:effectLst/>
      </p:bgPr>
    </p:bg>
    <p:spTree>
      <p:nvGrpSpPr>
        <p:cNvPr id="1" name="">
          <a:extLst>
            <a:ext uri="{FF2B5EF4-FFF2-40B4-BE49-F238E27FC236}">
              <a16:creationId xmlns:a16="http://schemas.microsoft.com/office/drawing/2014/main" id="{1A2C605B-475D-7B41-0076-01A28962A429}"/>
            </a:ext>
          </a:extLst>
        </p:cNvPr>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EE4BEBD8-0133-0218-8993-DDB3DE3A71E4}"/>
              </a:ext>
            </a:extLst>
          </p:cNvPr>
          <p:cNvSpPr txBox="1">
            <a:spLocks/>
          </p:cNvSpPr>
          <p:nvPr/>
        </p:nvSpPr>
        <p:spPr>
          <a:xfrm>
            <a:off x="448965" y="739289"/>
            <a:ext cx="8286617" cy="3664921"/>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spcBef>
                <a:spcPts val="600"/>
              </a:spcBef>
            </a:pPr>
            <a:r>
              <a:rPr lang="en-US" sz="1800" dirty="0">
                <a:solidFill>
                  <a:schemeClr val="bg1"/>
                </a:solidFill>
              </a:rPr>
              <a:t>States with higher monitored capacities generally produced more electricity.</a:t>
            </a:r>
          </a:p>
          <a:p>
            <a:pPr>
              <a:lnSpc>
                <a:spcPct val="150000"/>
              </a:lnSpc>
              <a:spcBef>
                <a:spcPts val="600"/>
              </a:spcBef>
            </a:pPr>
            <a:r>
              <a:rPr lang="en-US" sz="1800" dirty="0">
                <a:solidFill>
                  <a:schemeClr val="bg1"/>
                </a:solidFill>
              </a:rPr>
              <a:t>Power generation remained relatively stable during </a:t>
            </a:r>
            <a:r>
              <a:rPr lang="en-US" sz="1800" b="1" dirty="0">
                <a:solidFill>
                  <a:schemeClr val="bg1"/>
                </a:solidFill>
              </a:rPr>
              <a:t>2018 and 2019</a:t>
            </a:r>
            <a:r>
              <a:rPr lang="en-US" sz="1800" dirty="0">
                <a:solidFill>
                  <a:schemeClr val="bg1"/>
                </a:solidFill>
              </a:rPr>
              <a:t>, while </a:t>
            </a:r>
            <a:r>
              <a:rPr lang="en-US" sz="1800" b="1" dirty="0">
                <a:solidFill>
                  <a:schemeClr val="bg1"/>
                </a:solidFill>
              </a:rPr>
              <a:t>2020</a:t>
            </a:r>
            <a:r>
              <a:rPr lang="en-US" sz="1800" dirty="0">
                <a:solidFill>
                  <a:schemeClr val="bg1"/>
                </a:solidFill>
              </a:rPr>
              <a:t> exhibited noticeable fluctuations.</a:t>
            </a:r>
          </a:p>
          <a:p>
            <a:pPr>
              <a:lnSpc>
                <a:spcPct val="150000"/>
              </a:lnSpc>
              <a:spcBef>
                <a:spcPts val="600"/>
              </a:spcBef>
            </a:pPr>
            <a:r>
              <a:rPr lang="en-US" sz="1800" dirty="0">
                <a:solidFill>
                  <a:schemeClr val="bg1"/>
                </a:solidFill>
              </a:rPr>
              <a:t>Power generation infrastructure and output varied significantly across states and regions.</a:t>
            </a:r>
          </a:p>
          <a:p>
            <a:pPr>
              <a:lnSpc>
                <a:spcPct val="150000"/>
              </a:lnSpc>
              <a:spcBef>
                <a:spcPts val="600"/>
              </a:spcBef>
            </a:pPr>
            <a:r>
              <a:rPr lang="en-US" sz="1800" dirty="0">
                <a:solidFill>
                  <a:schemeClr val="bg1"/>
                </a:solidFill>
              </a:rPr>
              <a:t>Goa recorded zero actual generation despite having monitored capacity values, indicating possible missing data or temporarily non-operational stations.</a:t>
            </a:r>
            <a:endParaRPr lang="en-US" b="1" dirty="0">
              <a:solidFill>
                <a:schemeClr val="bg1"/>
              </a:solidFill>
            </a:endParaRPr>
          </a:p>
          <a:p>
            <a:pPr marL="0" indent="0">
              <a:buFont typeface="Arial" pitchFamily="34" charset="0"/>
              <a:buNone/>
            </a:pPr>
            <a:endParaRPr lang="en-US" dirty="0">
              <a:solidFill>
                <a:schemeClr val="bg1"/>
              </a:solidFill>
            </a:endParaRPr>
          </a:p>
        </p:txBody>
      </p:sp>
      <p:sp>
        <p:nvSpPr>
          <p:cNvPr id="2" name="Title 1">
            <a:extLst>
              <a:ext uri="{FF2B5EF4-FFF2-40B4-BE49-F238E27FC236}">
                <a16:creationId xmlns:a16="http://schemas.microsoft.com/office/drawing/2014/main" id="{3F739A0F-D2F6-9FB7-F67E-6BDF77082DDE}"/>
              </a:ext>
            </a:extLst>
          </p:cNvPr>
          <p:cNvSpPr>
            <a:spLocks noGrp="1"/>
          </p:cNvSpPr>
          <p:nvPr>
            <p:ph type="title"/>
          </p:nvPr>
        </p:nvSpPr>
        <p:spPr>
          <a:xfrm>
            <a:off x="405984" y="0"/>
            <a:ext cx="6425940" cy="586585"/>
          </a:xfrm>
        </p:spPr>
        <p:txBody>
          <a:bodyPr>
            <a:normAutofit/>
          </a:bodyPr>
          <a:lstStyle/>
          <a:p>
            <a:r>
              <a:rPr lang="en-US" sz="2800" b="1" dirty="0">
                <a:solidFill>
                  <a:schemeClr val="bg1"/>
                </a:solidFill>
              </a:rPr>
              <a:t>Key Insights (Continue):</a:t>
            </a:r>
            <a:endParaRPr lang="en-US" sz="2800" dirty="0"/>
          </a:p>
        </p:txBody>
      </p:sp>
    </p:spTree>
    <p:extLst>
      <p:ext uri="{BB962C8B-B14F-4D97-AF65-F5344CB8AC3E}">
        <p14:creationId xmlns:p14="http://schemas.microsoft.com/office/powerpoint/2010/main" val="1620884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9825744F-9DD5-6640-1266-E607868B29BC}"/>
              </a:ext>
            </a:extLst>
          </p:cNvPr>
          <p:cNvSpPr>
            <a:spLocks noGrp="1"/>
          </p:cNvSpPr>
          <p:nvPr>
            <p:ph type="title"/>
          </p:nvPr>
        </p:nvSpPr>
        <p:spPr/>
        <p:txBody>
          <a:bodyPr>
            <a:normAutofit/>
          </a:bodyPr>
          <a:lstStyle/>
          <a:p>
            <a:r>
              <a:rPr lang="en-US" sz="2800" b="1" dirty="0">
                <a:effectLst/>
              </a:rPr>
              <a:t>Recommendations:</a:t>
            </a:r>
            <a:endParaRPr lang="en-US" sz="2800" dirty="0"/>
          </a:p>
        </p:txBody>
      </p:sp>
      <p:sp>
        <p:nvSpPr>
          <p:cNvPr id="18" name="Content Placeholder 17">
            <a:extLst>
              <a:ext uri="{FF2B5EF4-FFF2-40B4-BE49-F238E27FC236}">
                <a16:creationId xmlns:a16="http://schemas.microsoft.com/office/drawing/2014/main" id="{9F38FEEA-A518-B5FF-2F5F-C35FE2264BC1}"/>
              </a:ext>
            </a:extLst>
          </p:cNvPr>
          <p:cNvSpPr>
            <a:spLocks noGrp="1"/>
          </p:cNvSpPr>
          <p:nvPr>
            <p:ph idx="1"/>
          </p:nvPr>
        </p:nvSpPr>
        <p:spPr/>
        <p:txBody>
          <a:bodyPr>
            <a:normAutofit/>
          </a:bodyPr>
          <a:lstStyle/>
          <a:p>
            <a:pPr>
              <a:lnSpc>
                <a:spcPct val="130000"/>
              </a:lnSpc>
              <a:spcBef>
                <a:spcPts val="600"/>
              </a:spcBef>
            </a:pPr>
            <a:r>
              <a:rPr lang="en-US" sz="1800" dirty="0"/>
              <a:t>Strengthen electricity generation infrastructure in low-performing states and regions.</a:t>
            </a:r>
          </a:p>
          <a:p>
            <a:pPr>
              <a:lnSpc>
                <a:spcPct val="130000"/>
              </a:lnSpc>
              <a:spcBef>
                <a:spcPts val="600"/>
              </a:spcBef>
            </a:pPr>
            <a:r>
              <a:rPr lang="en-US" sz="1800" dirty="0"/>
              <a:t>Improve data monitoring and reporting mechanisms.</a:t>
            </a:r>
          </a:p>
          <a:p>
            <a:pPr>
              <a:lnSpc>
                <a:spcPct val="130000"/>
              </a:lnSpc>
              <a:spcBef>
                <a:spcPts val="600"/>
              </a:spcBef>
            </a:pPr>
            <a:r>
              <a:rPr lang="en-US" sz="1800" dirty="0"/>
              <a:t>Continuously monitor the performance of major power stations.</a:t>
            </a:r>
          </a:p>
          <a:p>
            <a:pPr>
              <a:lnSpc>
                <a:spcPct val="130000"/>
              </a:lnSpc>
              <a:spcBef>
                <a:spcPts val="600"/>
              </a:spcBef>
            </a:pPr>
            <a:r>
              <a:rPr lang="en-US" sz="1800" dirty="0"/>
              <a:t>Increase investment in renewable and alternative energy sources.</a:t>
            </a:r>
          </a:p>
          <a:p>
            <a:pPr>
              <a:lnSpc>
                <a:spcPct val="130000"/>
              </a:lnSpc>
              <a:spcBef>
                <a:spcPts val="600"/>
              </a:spcBef>
            </a:pPr>
            <a:r>
              <a:rPr lang="en-US" sz="1800" dirty="0"/>
              <a:t>Conduct further studies on demand forecasting and capacity utilization to support future energy planning.</a:t>
            </a:r>
          </a:p>
        </p:txBody>
      </p:sp>
    </p:spTree>
    <p:extLst>
      <p:ext uri="{BB962C8B-B14F-4D97-AF65-F5344CB8AC3E}">
        <p14:creationId xmlns:p14="http://schemas.microsoft.com/office/powerpoint/2010/main" val="4170783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ED5A9-A8A5-CE5F-74DF-0D8161E32F7F}"/>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FC4C00BA-2D87-3488-38D6-4D2FDED520EC}"/>
              </a:ext>
            </a:extLst>
          </p:cNvPr>
          <p:cNvSpPr>
            <a:spLocks noGrp="1"/>
          </p:cNvSpPr>
          <p:nvPr>
            <p:ph type="title"/>
          </p:nvPr>
        </p:nvSpPr>
        <p:spPr/>
        <p:txBody>
          <a:bodyPr>
            <a:normAutofit/>
          </a:bodyPr>
          <a:lstStyle/>
          <a:p>
            <a:r>
              <a:rPr lang="en-US" sz="2800" b="1" dirty="0">
                <a:effectLst/>
              </a:rPr>
              <a:t>Conclusion:</a:t>
            </a:r>
          </a:p>
        </p:txBody>
      </p:sp>
      <p:sp>
        <p:nvSpPr>
          <p:cNvPr id="18" name="Content Placeholder 17">
            <a:extLst>
              <a:ext uri="{FF2B5EF4-FFF2-40B4-BE49-F238E27FC236}">
                <a16:creationId xmlns:a16="http://schemas.microsoft.com/office/drawing/2014/main" id="{D96BF06D-96BF-49BC-70A8-04FA29191C1E}"/>
              </a:ext>
            </a:extLst>
          </p:cNvPr>
          <p:cNvSpPr>
            <a:spLocks noGrp="1"/>
          </p:cNvSpPr>
          <p:nvPr>
            <p:ph idx="1"/>
          </p:nvPr>
        </p:nvSpPr>
        <p:spPr>
          <a:xfrm>
            <a:off x="457200" y="1197405"/>
            <a:ext cx="8286617" cy="2443280"/>
          </a:xfrm>
        </p:spPr>
        <p:txBody>
          <a:bodyPr>
            <a:normAutofit/>
          </a:bodyPr>
          <a:lstStyle/>
          <a:p>
            <a:pPr marL="0" indent="0" algn="just">
              <a:lnSpc>
                <a:spcPct val="130000"/>
              </a:lnSpc>
              <a:spcBef>
                <a:spcPts val="600"/>
              </a:spcBef>
              <a:buNone/>
            </a:pPr>
            <a:r>
              <a:rPr lang="en-US" sz="1800" dirty="0"/>
              <a:t>The analysis reveals that domestic Conventional Thermal power stations predominantly drove India's electricity generation from 2017 to 2020. Electricity generation was concentrated among a few states and large-capacity power stations, while actual generation generally remained close to planned targets. The findings provide valuable insights into generation trends, regional disparities, and infrastructure performance and can support future energy planning and policy decisions</a:t>
            </a:r>
          </a:p>
        </p:txBody>
      </p:sp>
    </p:spTree>
    <p:extLst>
      <p:ext uri="{BB962C8B-B14F-4D97-AF65-F5344CB8AC3E}">
        <p14:creationId xmlns:p14="http://schemas.microsoft.com/office/powerpoint/2010/main" val="3698591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21954-6B02-6879-A12A-A2D3E1EB59B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372E132-C209-DD71-C36D-5C8E30F34CC4}"/>
              </a:ext>
            </a:extLst>
          </p:cNvPr>
          <p:cNvSpPr txBox="1">
            <a:spLocks/>
          </p:cNvSpPr>
          <p:nvPr/>
        </p:nvSpPr>
        <p:spPr>
          <a:xfrm>
            <a:off x="448965" y="281175"/>
            <a:ext cx="8246070" cy="4581150"/>
          </a:xfrm>
          <a:prstGeom prst="rect">
            <a:avLst/>
          </a:prstGeom>
        </p:spPr>
        <p:txBody>
          <a:bodyPr vert="horz" lIns="91440" tIns="45720" rIns="91440" bIns="45720" rtlCol="0" anchor="ctr">
            <a:noAutofit/>
          </a:bodyPr>
          <a:lstStyle>
            <a:lvl1pPr algn="l" defTabSz="914400" rtl="0" eaLnBrk="1" latinLnBrk="0" hangingPunct="1">
              <a:spcBef>
                <a:spcPct val="0"/>
              </a:spcBef>
              <a:buNone/>
              <a:defRPr sz="3600" kern="1200">
                <a:solidFill>
                  <a:srgbClr val="FFC000"/>
                </a:solidFill>
                <a:effectLst>
                  <a:outerShdw blurRad="50800" dist="38100" dir="2700000" algn="tl" rotWithShape="0">
                    <a:prstClr val="black">
                      <a:alpha val="40000"/>
                    </a:prstClr>
                  </a:outerShdw>
                </a:effectLst>
                <a:latin typeface="+mj-lt"/>
                <a:ea typeface="+mj-ea"/>
                <a:cs typeface="+mj-cs"/>
              </a:defRPr>
            </a:lvl1pPr>
          </a:lstStyle>
          <a:p>
            <a:pPr algn="ctr"/>
            <a:r>
              <a:rPr lang="en-US" sz="16600" dirty="0">
                <a:solidFill>
                  <a:srgbClr val="FDBD32"/>
                </a:solidFill>
                <a:effectLst>
                  <a:outerShdw blurRad="38100" dist="38100" dir="2700000" algn="tl">
                    <a:srgbClr val="000000">
                      <a:alpha val="43137"/>
                    </a:srgbClr>
                  </a:outerShdw>
                </a:effectLst>
                <a:latin typeface="Bodoni MT Black" panose="02070A03080606020203" pitchFamily="18" charset="0"/>
              </a:rPr>
              <a:t>Q &amp; A</a:t>
            </a:r>
          </a:p>
        </p:txBody>
      </p:sp>
    </p:spTree>
    <p:extLst>
      <p:ext uri="{BB962C8B-B14F-4D97-AF65-F5344CB8AC3E}">
        <p14:creationId xmlns:p14="http://schemas.microsoft.com/office/powerpoint/2010/main" val="4118528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0000"/>
            <a:lum/>
          </a:blip>
          <a:srcRect/>
          <a:stretch>
            <a:fillRect/>
          </a:stretch>
        </a:blipFill>
        <a:effectLst/>
      </p:bgPr>
    </p:bg>
    <p:spTree>
      <p:nvGrpSpPr>
        <p:cNvPr id="1" name="">
          <a:extLst>
            <a:ext uri="{FF2B5EF4-FFF2-40B4-BE49-F238E27FC236}">
              <a16:creationId xmlns:a16="http://schemas.microsoft.com/office/drawing/2014/main" id="{E026164F-DCAE-62D4-9BA2-65343B81144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1EECB0E-3A81-F68B-6D4E-91A548B89FFD}"/>
              </a:ext>
            </a:extLst>
          </p:cNvPr>
          <p:cNvSpPr>
            <a:spLocks noGrp="1"/>
          </p:cNvSpPr>
          <p:nvPr>
            <p:ph type="ctrTitle"/>
          </p:nvPr>
        </p:nvSpPr>
        <p:spPr>
          <a:xfrm>
            <a:off x="1059785" y="586585"/>
            <a:ext cx="7024430" cy="3817625"/>
          </a:xfrm>
        </p:spPr>
        <p:txBody>
          <a:bodyPr>
            <a:normAutofit/>
          </a:bodyPr>
          <a:lstStyle/>
          <a:p>
            <a:pPr algn="ctr"/>
            <a:r>
              <a:rPr lang="en-US" sz="11500" dirty="0">
                <a:solidFill>
                  <a:srgbClr val="FFC000"/>
                </a:solidFill>
                <a:latin typeface="Bodoni MT Black" panose="02070A03080606020203" pitchFamily="18" charset="0"/>
              </a:rPr>
              <a:t>THANK YOU </a:t>
            </a:r>
            <a:r>
              <a:rPr lang="en-US" sz="11500" dirty="0">
                <a:solidFill>
                  <a:srgbClr val="FFC000"/>
                </a:solidFill>
                <a:latin typeface="Bodoni MT Black" panose="02070A03080606020203" pitchFamily="18" charset="0"/>
                <a:sym typeface="Wingdings" panose="05000000000000000000" pitchFamily="2" charset="2"/>
              </a:rPr>
              <a:t></a:t>
            </a:r>
            <a:endParaRPr lang="en-US" sz="11500" dirty="0">
              <a:solidFill>
                <a:srgbClr val="FFC000"/>
              </a:solidFill>
              <a:latin typeface="Bodoni MT Black" panose="02070A03080606020203" pitchFamily="18" charset="0"/>
            </a:endParaRPr>
          </a:p>
        </p:txBody>
      </p:sp>
    </p:spTree>
    <p:extLst>
      <p:ext uri="{BB962C8B-B14F-4D97-AF65-F5344CB8AC3E}">
        <p14:creationId xmlns:p14="http://schemas.microsoft.com/office/powerpoint/2010/main" val="41462124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816</TotalTime>
  <Words>914</Words>
  <Application>Microsoft Office PowerPoint</Application>
  <PresentationFormat>On-screen Show (16:9)</PresentationFormat>
  <Paragraphs>116</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Algerian</vt:lpstr>
      <vt:lpstr>Arial</vt:lpstr>
      <vt:lpstr>Bernard MT Condensed</vt:lpstr>
      <vt:lpstr>Bodoni MT Black</vt:lpstr>
      <vt:lpstr>Calibri</vt:lpstr>
      <vt:lpstr>Office Theme</vt:lpstr>
      <vt:lpstr>Analysis of Daily Power Generation Trends in India</vt:lpstr>
      <vt:lpstr>PowerPoint Presentation</vt:lpstr>
      <vt:lpstr>PowerPoint Presentation</vt:lpstr>
      <vt:lpstr>PowerPoint Presentation</vt:lpstr>
      <vt:lpstr>PowerPoint Presentation</vt:lpstr>
      <vt:lpstr>PowerPoint Presentation</vt:lpstr>
      <vt:lpstr>Exploratory Data Analysis (EDA):</vt:lpstr>
      <vt:lpstr>PowerPoint Presentation</vt:lpstr>
      <vt:lpstr>Data Visualization:</vt:lpstr>
      <vt:lpstr>PowerPoint Presentation</vt:lpstr>
      <vt:lpstr>Key Insights:</vt:lpstr>
      <vt:lpstr>Key Insights (Continue):</vt:lpstr>
      <vt:lpstr>Recommendations:</vt:lpstr>
      <vt:lpstr>Conclusion: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LISSMARIYA JOY</cp:lastModifiedBy>
  <cp:revision>20</cp:revision>
  <dcterms:created xsi:type="dcterms:W3CDTF">2017-08-01T15:40:51Z</dcterms:created>
  <dcterms:modified xsi:type="dcterms:W3CDTF">2026-06-25T05:09:38Z</dcterms:modified>
</cp:coreProperties>
</file>